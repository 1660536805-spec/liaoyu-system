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6" Type="http://schemas.openxmlformats.org/officeDocument/2006/relationships/viewProps" Target="viewProps.xml" /><Relationship Id="rId15" Type="http://schemas.openxmlformats.org/officeDocument/2006/relationships/tableStyles" Target="tableStyles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3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14" Type="http://schemas.openxmlformats.org/officeDocument/2006/relationships/presProps" Target="presProps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3" Type="http://schemas.openxmlformats.org/officeDocument/2006/relationships/slide" Target="slides/slide3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8.png" /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3.svg" /><Relationship Id="rId4" Type="http://schemas.openxmlformats.org/officeDocument/2006/relationships/image" Target="media/image5.svg" /><Relationship Id="rId1" Type="http://schemas.openxmlformats.org/officeDocument/2006/relationships/image" Target="media/image2.svg" /><Relationship Id="rId3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 descr="&lt;Slide style={{ width: 1280, height: 720, position: 'relative', background: '#15100B', padding: 0, overflow: 'hidden' }}&gt;&#10;    &lt;Image src=&quot;assets/cover_guqin.png&quot; style={{ position: 'absolute', top: 0, left: 0, width: 1280, height: 720, objectFit: 'cover' }} /&gt;&#10;    &lt;Box style={{ position: 'absolute', top: 0, left: 0, width: 1280, height: 720, background: 'linear-gradient(90deg, rgba(18,12,8,0.94) 0%, rgba(18,12,8,0.74) 44%, rgba(18,12,8,0.16) 100%)' }} /&gt;&#10;    &lt;Box style={{ position: 'absolute', top: 0, left: 0, width: 1280, height: 720, flexDirection: 'column', justifyContent: 'center', paddingLeft: 104, paddingRight: 104 }}&gt;&#10;        &lt;Animation animType=&quot;fadeIn&quot; duration={600}&gt;&#10;            &lt;Box style={{ flexDirection: 'row', alignItems: 'center', gap: 14, marginBottom: 30 }}&gt;&#10;                &lt;Box style={{ width: 46, height: 2, background: '#C9A97E' }} /&gt;&#10;                &lt;Text style={{ fontSize: 18, letterSpacing: 6, color: '#C9A97E', fontFamily: '&quot;PingFang SC&quot;, sans-serif' }}&gt;弦 养 · 身 心 疗 愈 系 统 原 型&lt;/Text&gt;&#10;            &lt;/Box&gt;&#10;        &lt;/Animation&gt;&#10;        &lt;Animation animType=&quot;fadeIn&quot; startType=&quot;afterPrevious&quot; duration={700}&gt;&#10;            &lt;Box style={{ marginBottom: 26 }}&gt;&#10;                &lt;Text style={{ fontSize: 76, fontWeight: 'bold', color: '#FBF3E3', fontFamily: '&quot;Songti SC&quot;,&quot;STSong&quot;,serif', lineHeight: 1.16, letterSpacing: 3 }}&gt;以身为琴，以动为弦&lt;/Text&gt;&#10;            &lt;/Box&gt;&#10;        &lt;/Animation&gt;&#10;        &lt;Animation animType=&quot;fadeIn&quot; startType=&quot;afterPrevious&quot; duration={600}&gt;&#10;            &lt;Box style={{ marginBottom: 40 }}&gt;&#10;                &lt;Text style={{ fontSize: 27, color: '#E8D9B8', fontFamily: '&quot;PingFang SC&quot;, sans-serif', letterSpacing: 2 }}&gt;五音疗愈 × AI 动作识别&lt;/Text&gt;&#10;            &lt;/Box&gt;&#10;        &lt;/Animation&gt;&#10;        &lt;Animation animType=&quot;fadeIn&quot; startType=&quot;afterPrevious&quot; duration={600}&gt;&#10;            &lt;Box style={{ flexDirection: 'column', gap: 10, borderLeft: '2px solid rgba(201,169,126,0.5)', paddingLeft: 20 }}&gt;&#10;                &lt;Text style={{ fontSize: 18, color: '#C3B491', fontFamily: '&quot;PingFang SC&quot;, sans-serif' }}&gt;命题三：OPC 时代身心疗愈五大核心赛道&lt;/Text&gt;&#10;                &lt;Text style={{ fontSize: 17, color: '#8E8069', fontFamily: '&quot;PingFang SC&quot;, sans-serif' }}&gt;从宫商角徵羽出发 · 以五脏串联古琴声音与八段锦练习&lt;/Text&gt;&#10;                &lt;Text style={{ fontSize: 17, color: '#C9A97E', letterSpacing: 1, fontFamily: '&quot;PingFang SC&quot;, sans-serif' }}&gt;可演示的系统原型 · 文化内核数字化 · 可插拔接入硬件与场景&lt;/Text&gt;&#10;            &lt;/Box&gt;&#10;        &lt;/Animation&gt;&#10;    &lt;/Box&gt;&#10;    &lt;Text style={{ position: 'absolute', right: 72, bottom: 26, fontSize: 14, color: 'rgba(251,243,227,0.55)', fontFamily: '&quot;PingFang SC&quot;, sans-serif' }}&gt;01 / 1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5100B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4621" r="0" b="462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0C08">
                  <a:alpha val="94000"/>
                </a:srgbClr>
              </a:gs>
              <a:gs pos="44000">
                <a:srgbClr val="120C08">
                  <a:alpha val="74000"/>
                </a:srgbClr>
              </a:gs>
              <a:gs pos="100000">
                <a:srgbClr val="120C08">
                  <a:alpha val="16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990600" y="1905000"/>
            <a:ext cx="438150" cy="19050"/>
          </a:xfrm>
          <a:prstGeom prst="rect">
            <a:avLst/>
          </a:prstGeom>
          <a:solidFill>
            <a:srgbClr val="C9A97E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562100" y="1809750"/>
            <a:ext cx="3571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450">
                <a:solidFill>
                  <a:srgbClr val="C9A97E"/>
                </a:solidFill>
                <a:latin typeface="PingFang SC"/>
                <a:ea typeface="PingFang SC"/>
              </a:rPr>
              <a:t>弦</a:t>
            </a:r>
            <a:r>
              <a:rPr lang="en-US" sz="1350" spc="4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350" spc="450">
                <a:solidFill>
                  <a:srgbClr val="C9A97E"/>
                </a:solidFill>
                <a:latin typeface="PingFang SC"/>
                <a:ea typeface="PingFang SC"/>
              </a:rPr>
              <a:t>养</a:t>
            </a:r>
            <a:r>
              <a:rPr lang="en-US" sz="1350" spc="450">
                <a:solidFill>
                  <a:srgbClr val="C9A97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350" spc="450">
                <a:solidFill>
                  <a:srgbClr val="C9A97E"/>
                </a:solidFill>
                <a:latin typeface="PingFang SC"/>
                <a:ea typeface="PingFang SC"/>
              </a:rPr>
              <a:t>身</a:t>
            </a:r>
            <a:r>
              <a:rPr lang="en-US" sz="1350" spc="4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350" spc="450">
                <a:solidFill>
                  <a:srgbClr val="C9A97E"/>
                </a:solidFill>
                <a:latin typeface="PingFang SC"/>
                <a:ea typeface="PingFang SC"/>
              </a:rPr>
              <a:t>心</a:t>
            </a:r>
            <a:r>
              <a:rPr lang="en-US" sz="1350" spc="4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350" spc="450">
                <a:solidFill>
                  <a:srgbClr val="C9A97E"/>
                </a:solidFill>
                <a:latin typeface="PingFang SC"/>
                <a:ea typeface="PingFang SC"/>
              </a:rPr>
              <a:t>疗</a:t>
            </a:r>
            <a:r>
              <a:rPr lang="en-US" sz="1350" spc="4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350" spc="450">
                <a:solidFill>
                  <a:srgbClr val="C9A97E"/>
                </a:solidFill>
                <a:latin typeface="PingFang SC"/>
                <a:ea typeface="PingFang SC"/>
              </a:rPr>
              <a:t>愈</a:t>
            </a:r>
            <a:r>
              <a:rPr lang="en-US" sz="1350" spc="4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350" spc="450">
                <a:solidFill>
                  <a:srgbClr val="C9A97E"/>
                </a:solidFill>
                <a:latin typeface="PingFang SC"/>
                <a:ea typeface="PingFang SC"/>
              </a:rPr>
              <a:t>系</a:t>
            </a:r>
            <a:r>
              <a:rPr lang="en-US" sz="1350" spc="4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350" spc="450">
                <a:solidFill>
                  <a:srgbClr val="C9A97E"/>
                </a:solidFill>
                <a:latin typeface="PingFang SC"/>
                <a:ea typeface="PingFang SC"/>
              </a:rPr>
              <a:t>统</a:t>
            </a:r>
            <a:r>
              <a:rPr lang="en-US" sz="1350" spc="4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350" spc="450">
                <a:solidFill>
                  <a:srgbClr val="C9A97E"/>
                </a:solidFill>
                <a:latin typeface="PingFang SC"/>
                <a:ea typeface="PingFang SC"/>
              </a:rPr>
              <a:t>原</a:t>
            </a:r>
            <a:r>
              <a:rPr lang="en-US" sz="1350" spc="4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350" spc="450">
                <a:solidFill>
                  <a:srgbClr val="C9A97E"/>
                </a:solidFill>
                <a:latin typeface="PingFang SC"/>
                <a:ea typeface="PingFang SC"/>
              </a:rPr>
              <a:t>型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90600" y="2305050"/>
            <a:ext cx="10210800" cy="1009650"/>
          </a:xfrm>
          <a:prstGeom prst="rect"/>
        </p:spPr>
        <p:txBody>
          <a:bodyPr wrap="none" lIns="0" tIns="0" rIns="0" bIns="0"/>
          <a:p>
            <a:pPr>
              <a:lnSpc>
                <a:spcPct val="115999"/>
              </a:lnSpc>
            </a:pPr>
            <a:r>
              <a:rPr lang="zh-CN" sz="5700" b="1" spc="225">
                <a:solidFill>
                  <a:srgbClr val="FBF3E3"/>
                </a:solidFill>
                <a:latin typeface="Songti SC"/>
                <a:ea typeface="Songti SC"/>
              </a:rPr>
              <a:t>以身为琴，以动为弦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90600" y="3562350"/>
            <a:ext cx="102108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spc="150">
                <a:solidFill>
                  <a:srgbClr val="E8D9B8"/>
                </a:solidFill>
                <a:latin typeface="PingFang SC"/>
                <a:ea typeface="PingFang SC"/>
              </a:rPr>
              <a:t>五音疗愈</a:t>
            </a:r>
            <a:r>
              <a:rPr lang="en-US" sz="2025" spc="150">
                <a:solidFill>
                  <a:srgbClr val="E8D9B8"/>
                </a:solidFill>
                <a:latin typeface="PingFang SC"/>
                <a:ea typeface="PingFang SC"/>
              </a:rPr>
              <a:t xml:space="preserve"> × AI </a:t>
            </a:r>
            <a:r>
              <a:rPr lang="zh-CN" sz="2025" spc="150">
                <a:solidFill>
                  <a:srgbClr val="E8D9B8"/>
                </a:solidFill>
                <a:latin typeface="PingFang SC"/>
                <a:ea typeface="PingFang SC"/>
              </a:rPr>
              <a:t>动作识别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990600" y="4257675"/>
            <a:ext cx="10229850" cy="800100"/>
          </a:xfrm>
          <a:custGeom>
            <a:pathLst>
              <a:path w="1074" h="84">
                <a:moveTo>
                  <a:pt x="0" y="0"/>
                </a:moveTo>
                <a:lnTo>
                  <a:pt x="2" y="0"/>
                </a:lnTo>
                <a:lnTo>
                  <a:pt x="2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9A97E">
              <a:alpha val="50000"/>
            </a:srgbClr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200150" y="4257675"/>
            <a:ext cx="1000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3B491"/>
                </a:solidFill>
                <a:latin typeface="PingFang SC"/>
                <a:ea typeface="PingFang SC"/>
              </a:rPr>
              <a:t>命题三：</a:t>
            </a:r>
            <a:r>
              <a:rPr lang="en-US" sz="1350">
                <a:solidFill>
                  <a:srgbClr val="C3B491"/>
                </a:solidFill>
                <a:latin typeface="PingFang SC"/>
                <a:ea typeface="PingFang SC"/>
              </a:rPr>
              <a:t xml:space="preserve">OPC </a:t>
            </a:r>
            <a:r>
              <a:rPr lang="zh-CN" sz="1350">
                <a:solidFill>
                  <a:srgbClr val="C3B491"/>
                </a:solidFill>
                <a:latin typeface="PingFang SC"/>
                <a:ea typeface="PingFang SC"/>
              </a:rPr>
              <a:t>时代身心疗愈五大核心赛道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200150" y="4562475"/>
            <a:ext cx="1000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E8069"/>
                </a:solidFill>
                <a:latin typeface="PingFang SC"/>
                <a:ea typeface="PingFang SC"/>
              </a:rPr>
              <a:t>从宫商角徵羽出发</a:t>
            </a:r>
            <a:r>
              <a:rPr lang="en-US" sz="1275">
                <a:solidFill>
                  <a:srgbClr val="8E8069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>
                <a:solidFill>
                  <a:srgbClr val="8E8069"/>
                </a:solidFill>
                <a:latin typeface="PingFang SC"/>
                <a:ea typeface="PingFang SC"/>
              </a:rPr>
              <a:t>以五脏串联古琴声音与八段锦练习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200150" y="4857750"/>
            <a:ext cx="1000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C9A97E"/>
                </a:solidFill>
                <a:latin typeface="PingFang SC"/>
                <a:ea typeface="PingFang SC"/>
              </a:rPr>
              <a:t>可演示的系统原型</a:t>
            </a:r>
            <a:r>
              <a:rPr lang="en-US" sz="1275" spc="75">
                <a:solidFill>
                  <a:srgbClr val="C9A97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spc="75">
                <a:solidFill>
                  <a:srgbClr val="C9A97E"/>
                </a:solidFill>
                <a:latin typeface="PingFang SC"/>
                <a:ea typeface="PingFang SC"/>
              </a:rPr>
              <a:t>文化内核数字化</a:t>
            </a:r>
            <a:r>
              <a:rPr lang="en-US" sz="1275" spc="75">
                <a:solidFill>
                  <a:srgbClr val="C9A97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spc="75">
                <a:solidFill>
                  <a:srgbClr val="C9A97E"/>
                </a:solidFill>
                <a:latin typeface="PingFang SC"/>
                <a:ea typeface="PingFang SC"/>
              </a:rPr>
              <a:t>可插拔接入硬件与场景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1077575" y="644842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BF3E3">
                    <a:alpha val="55000"/>
                  </a:srgbClr>
                </a:solidFill>
                <a:latin typeface="PingFang SC"/>
                <a:ea typeface="PingFang SC"/>
              </a:rPr>
              <a:t>01 / 12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2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3" name="" descr="&lt;Slide style={{ width: 1280, height: 720, background: '#FBF3E3', padding: '20px 72px', flexDirection: 'column' }}&gt;&#10;    &lt;Box style={{ height: 84, flexDirection: 'row', justifyContent: 'space-between', alignItems: 'flex-start' }}&gt;&#10;        &lt;Box style={{ flexDirection: 'column', gap: 6 }}&gt;&#10;            &lt;Text style={{ fontSize: 15, letterSpacing: 3, color: '#B0552E', fontFamily: '&quot;PingFang SC&quot;, sans-serif' }}&gt;产 品 概 述&lt;/Text&gt;&#10;            &lt;Text style={{ fontSize: 36, fontWeight: 'bold', color: '#241C14', fontFamily: '&quot;Songti SC&quot;,&quot;STSong&quot;,serif' }}&gt;起点：从五音进入身心疗愈&lt;/Text&gt;&#10;        &lt;/Box&gt;&#10;        &lt;Box style={{ width: 44, height: 44, borderRadius: 4, background: 'linear-gradient(135deg,#C2543C 0%,#8F3F1F 100%)', justifyContent: 'center', alignItems: 'center' }}&gt;&#10;            &lt;Text style={{ fontSize: 20, color: '#FBEFD8', fontFamily: '&quot;Songti SC&quot;,serif', fontWeight: 'bold' }}&gt;弦&lt;/Text&gt;&#10;        &lt;/Box&gt;&#10;    &lt;/Box&gt;&#10;    &lt;Box style={{ height: 1, background: '#E3D6BC', marginTop: 6 }} /&gt;&#10;    &lt;Box style={{ height: 500, flexDirection: 'column', marginTop: 22 }}&gt;&#10;        &lt;Animation animType=&quot;flyIn&quot; direction=&quot;right&quot; duration={700}&gt;&#10;            &lt;Box style={{ flexDirection: 'row', justifyContent: 'space-between', alignItems: 'center', height: 268, paddingLeft: 24, paddingRight: 24 }}&gt;&#10;                {[&#10;                    { char: '宫', organ: '脾 · 土', color: '#C9A97E' },&#10;                    { char: '商', organ: '肺 · 金', color: '#A79E8C' },&#10;                    { char: '角', organ: '肝 · 木', color: '#5F8A72' },&#10;                    { char: '徵', organ: '心 · 火', color: '#B0552E' },&#10;                    { char: '羽', organ: '肾 · 水', color: '#4E6E7E' },&#10;                ].map((t, i) =&gt; (&#10;                    &lt;Box key={i} style={{ width: 196, flexDirection: 'column', alignItems: 'center', gap: 12 }}&gt;&#10;                        &lt;Text style={{ fontSize: 104, fontWeight: 'bold', color: t.color, fontFamily: '&quot;Songti SC&quot;,&quot;STSong&quot;,serif', lineHeight: 1.0 }}&gt;{t.char}&lt;/Text&gt;&#10;                        &lt;Box style={{ width: 40, height: 2, background: t.color, opacity: 0.7 }} /&gt;&#10;                        &lt;Text style={{ fontSize: 17, color: '#7C6B54', fontFamily: '&quot;PingFang SC&quot;, sans-serif', letterSpacing: 1 }}&gt;{t.organ}&lt;/Text&gt;&#10;                    &lt;/Box&gt;&#10;                ))}&#10;            &lt;/Box&gt;&#10;        &lt;/Animation&gt;&#10;        &lt;Box style={{ flexDirection: 'row', gap: 36, flex: 1, marginTop: 6 }}&gt;&#10;            &lt;Animation animType=&quot;fadeIn&quot; startType=&quot;afterPrevious&quot; duration={600}&gt;&#10;                &lt;Box style={{ width: 700, flexDirection: 'column', justifyContent: 'center', gap: 16 }}&gt;&#10;                    &lt;Text style={{ fontSize: 22, color: '#241C14', fontFamily: '&quot;PingFang SC&quot;, sans-serif', lineHeight: 1.6 }}&gt;&#10;                        弦养不是「健身 App + 一段国风配乐」，也不是以五音命名的五个功能。&#10;                    &lt;/Text&gt;&#10;                    &lt;Text style={{ fontSize: 20, color: '#5C4E3C', fontFamily: '&quot;PingFang SC&quot;, sans-serif', lineHeight: 1.7 }}&gt;&#10;                        它面向希望在日常中舒展身体、安静聆听、放松身心的人，组织一段「&lt;span style={{ color: '#B0552E', fontWeight: 'bold' }}&gt;听 · 动 · 回应 · 回顾&lt;/span&gt;」的疗愈体验——五音是声音材料，也是贯穿产品的文化脉络。&#10;                    &lt;/Text&gt;&#10;                &lt;/Box&gt;&#10;            &lt;/Animation&gt;&#10;            &lt;Box style={{ width: 3, background: '#6E8F7C', opacity: 0.35 }} /&gt;&#10;            &lt;Animation animType=&quot;fadeIn&quot; startType=&quot;afterPrevious&quot; duration={600}&gt;&#10;                &lt;Box style={{ flex: 1, flexDirection: 'column', justifyContent: 'center', gap: 14, paddingLeft: 4 }}&gt;&#10;                    &lt;Text style={{ fontSize: 15, letterSpacing: 2, color: '#6E8F7C', fontFamily: '&quot;PingFang SC&quot;, sans-serif' }}&gt;边 界 声 明&lt;/Text&gt;&#10;                    &lt;Text style={{ fontSize: 18, color: '#5C4E3C', fontFamily: '&quot;PingFang SC&quot;, sans-serif', lineHeight: 1.7 }}&gt;&#10;                        这里的「疗愈」指体验目标，不代表已证明的医学疗效或治疗服务。&#10;                    &lt;/Text&gt;&#10;                &lt;/Box&gt;&#10;            &lt;/Animation&gt;&#10;        &lt;/Box&gt;&#10;    &lt;/Box&gt;&#10;    &lt;Box style={{ height: 32, flexDirection: 'row', justifyContent: 'space-between', alignItems: 'flex-end' }}&gt;&#10;        &lt;Text style={{ fontSize: 14, color: '#A9977B', fontFamily: '&quot;PingFang SC&quot;, sans-serif' }}&gt;弦养 · 以身为琴，以动为弦&lt;/Text&gt;&#10;        &lt;Text style={{ fontSize: 14, color: '#A9977B', fontFamily: '&quot;PingFang SC&quot;, sans-serif' }}&gt;02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3E3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产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品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概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述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4114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41C14"/>
                </a:solidFill>
                <a:latin typeface="Songti SC"/>
                <a:ea typeface="Songti SC"/>
              </a:rPr>
              <a:t>起点：从五音进入身心疗愈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11087100" y="190500"/>
            <a:ext cx="419100" cy="4191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201400" y="285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85800" y="1047750"/>
            <a:ext cx="10820400" cy="9525"/>
          </a:xfrm>
          <a:prstGeom prst="rect">
            <a:avLst/>
          </a:prstGeom>
          <a:solidFill>
            <a:srgbClr val="E3D6BC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352550" y="1724025"/>
            <a:ext cx="9906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00" b="1">
                <a:solidFill>
                  <a:srgbClr val="C9A97E"/>
                </a:solidFill>
                <a:latin typeface="Songti SC"/>
                <a:ea typeface="Songti SC"/>
              </a:rPr>
              <a:t>宫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571625" y="3162300"/>
            <a:ext cx="56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7C6B54"/>
                </a:solidFill>
                <a:latin typeface="PingFang SC"/>
                <a:ea typeface="PingFang SC"/>
              </a:rPr>
              <a:t>脾</a:t>
            </a:r>
            <a:r>
              <a:rPr lang="en-US" sz="1275" spc="75">
                <a:solidFill>
                  <a:srgbClr val="7C6B54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spc="75">
                <a:solidFill>
                  <a:srgbClr val="7C6B54"/>
                </a:solidFill>
                <a:latin typeface="PingFang SC"/>
                <a:ea typeface="PingFang SC"/>
              </a:rPr>
              <a:t>土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476625" y="1724025"/>
            <a:ext cx="9906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00" b="1">
                <a:solidFill>
                  <a:srgbClr val="A79E8C"/>
                </a:solidFill>
                <a:latin typeface="Songti SC"/>
                <a:ea typeface="Songti SC"/>
              </a:rPr>
              <a:t>商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695700" y="3162300"/>
            <a:ext cx="56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7C6B54"/>
                </a:solidFill>
                <a:latin typeface="PingFang SC"/>
                <a:ea typeface="PingFang SC"/>
              </a:rPr>
              <a:t>肺</a:t>
            </a:r>
            <a:r>
              <a:rPr lang="en-US" sz="1275" spc="75">
                <a:solidFill>
                  <a:srgbClr val="7C6B54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spc="75">
                <a:solidFill>
                  <a:srgbClr val="7C6B54"/>
                </a:solidFill>
                <a:latin typeface="PingFang SC"/>
                <a:ea typeface="PingFang SC"/>
              </a:rPr>
              <a:t>金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600700" y="1724025"/>
            <a:ext cx="9906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00" b="1">
                <a:solidFill>
                  <a:srgbClr val="5F8A72"/>
                </a:solidFill>
                <a:latin typeface="Songti SC"/>
                <a:ea typeface="Songti SC"/>
              </a:rPr>
              <a:t>角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819775" y="3162300"/>
            <a:ext cx="56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7C6B54"/>
                </a:solidFill>
                <a:latin typeface="PingFang SC"/>
                <a:ea typeface="PingFang SC"/>
              </a:rPr>
              <a:t>肝</a:t>
            </a:r>
            <a:r>
              <a:rPr lang="en-US" sz="1275" spc="75">
                <a:solidFill>
                  <a:srgbClr val="7C6B54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spc="75">
                <a:solidFill>
                  <a:srgbClr val="7C6B54"/>
                </a:solidFill>
                <a:latin typeface="PingFang SC"/>
                <a:ea typeface="PingFang SC"/>
              </a:rPr>
              <a:t>木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724775" y="1724025"/>
            <a:ext cx="9906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00" b="1">
                <a:solidFill>
                  <a:srgbClr val="B0552E"/>
                </a:solidFill>
                <a:latin typeface="Songti SC"/>
                <a:ea typeface="Songti SC"/>
              </a:rPr>
              <a:t>徵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943850" y="3162300"/>
            <a:ext cx="56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7C6B54"/>
                </a:solidFill>
                <a:latin typeface="PingFang SC"/>
                <a:ea typeface="PingFang SC"/>
              </a:rPr>
              <a:t>心</a:t>
            </a:r>
            <a:r>
              <a:rPr lang="en-US" sz="1275" spc="75">
                <a:solidFill>
                  <a:srgbClr val="7C6B54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spc="75">
                <a:solidFill>
                  <a:srgbClr val="7C6B54"/>
                </a:solidFill>
                <a:latin typeface="PingFang SC"/>
                <a:ea typeface="PingFang SC"/>
              </a:rPr>
              <a:t>火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848850" y="1724025"/>
            <a:ext cx="9906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00" b="1">
                <a:solidFill>
                  <a:srgbClr val="4E6E7E"/>
                </a:solidFill>
                <a:latin typeface="Songti SC"/>
                <a:ea typeface="Songti SC"/>
              </a:rPr>
              <a:t>羽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067925" y="3162300"/>
            <a:ext cx="56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7C6B54"/>
                </a:solidFill>
                <a:latin typeface="PingFang SC"/>
                <a:ea typeface="PingFang SC"/>
              </a:rPr>
              <a:t>肾</a:t>
            </a:r>
            <a:r>
              <a:rPr lang="en-US" sz="1275" spc="75">
                <a:solidFill>
                  <a:srgbClr val="7C6B54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 spc="75">
                <a:solidFill>
                  <a:srgbClr val="7C6B54"/>
                </a:solidFill>
                <a:latin typeface="PingFang SC"/>
                <a:ea typeface="PingFang SC"/>
              </a:rPr>
              <a:t>水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85800" y="4086225"/>
            <a:ext cx="66675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241C14"/>
                </a:solidFill>
                <a:latin typeface="PingFang SC"/>
                <a:ea typeface="PingFang SC"/>
              </a:rPr>
              <a:t>弦养不是「健身</a:t>
            </a:r>
            <a:r>
              <a:rPr lang="en-US" sz="1650">
                <a:solidFill>
                  <a:srgbClr val="241C14"/>
                </a:solidFill>
                <a:latin typeface="PingFang SC"/>
                <a:ea typeface="PingFang SC"/>
              </a:rPr>
              <a:t xml:space="preserve"> App + </a:t>
            </a:r>
            <a:r>
              <a:rPr lang="zh-CN" sz="1650">
                <a:solidFill>
                  <a:srgbClr val="241C14"/>
                </a:solidFill>
                <a:latin typeface="PingFang SC"/>
                <a:ea typeface="PingFang SC"/>
              </a:rPr>
              <a:t>一段国风配乐」，也不是以五音命名的五个功能。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85800" y="5048250"/>
            <a:ext cx="66675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5C4E3C"/>
                </a:solidFill>
                <a:latin typeface="PingFang SC"/>
                <a:ea typeface="PingFang SC"/>
              </a:rPr>
              <a:t>它面向希望在日常中舒展身体、安静聆听、放松身心的人，组织一段「</a:t>
            </a:r>
            <a:r>
              <a:rPr lang="zh-CN" sz="1500" b="1">
                <a:solidFill>
                  <a:srgbClr val="B0552E"/>
                </a:solidFill>
                <a:latin typeface="PingFang SC"/>
                <a:ea typeface="PingFang SC"/>
              </a:rPr>
              <a:t>听</a:t>
            </a:r>
            <a:r>
              <a:rPr lang="en-US" sz="1500" b="1">
                <a:solidFill>
                  <a:srgbClr val="B0552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500" b="1">
                <a:solidFill>
                  <a:srgbClr val="B0552E"/>
                </a:solidFill>
                <a:latin typeface="PingFang SC"/>
                <a:ea typeface="PingFang SC"/>
              </a:rPr>
              <a:t>动</a:t>
            </a:r>
            <a:r>
              <a:rPr lang="en-US" sz="1500" b="1">
                <a:solidFill>
                  <a:srgbClr val="B0552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500" b="1">
                <a:solidFill>
                  <a:srgbClr val="B0552E"/>
                </a:solidFill>
                <a:latin typeface="PingFang SC"/>
                <a:ea typeface="PingFang SC"/>
              </a:rPr>
              <a:t>回应</a:t>
            </a:r>
            <a:r>
              <a:rPr lang="en-US" sz="1500" b="1">
                <a:solidFill>
                  <a:srgbClr val="B0552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500" b="1">
                <a:solidFill>
                  <a:srgbClr val="B0552E"/>
                </a:solidFill>
                <a:latin typeface="PingFang SC"/>
                <a:ea typeface="PingFang SC"/>
              </a:rPr>
              <a:t>回顾</a:t>
            </a:r>
            <a:r>
              <a:rPr lang="zh-CN" sz="1500">
                <a:solidFill>
                  <a:srgbClr val="5C4E3C"/>
                </a:solidFill>
                <a:latin typeface="PingFang SC"/>
                <a:ea typeface="PingFang SC"/>
              </a:rPr>
              <a:t>」的疗愈体验——五音是声音材料，也是贯穿产品的文化脉络。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105775" y="444817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边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界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声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明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05775" y="4752975"/>
            <a:ext cx="340042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C4E3C"/>
                </a:solidFill>
                <a:latin typeface="PingFang SC"/>
                <a:ea typeface="PingFang SC"/>
              </a:rPr>
              <a:t>这里的「疗愈」指体验目标，不代表已证明的医学疗效或治疗服务。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>02 / 12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1657350" y="3028950"/>
            <a:ext cx="381000" cy="19050"/>
          </a:xfrm>
          <a:prstGeom prst="rect">
            <a:avLst/>
          </a:prstGeom>
          <a:solidFill>
            <a:srgbClr val="C9A97E">
              <a:alpha val="70000"/>
            </a:srgbClr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3781425" y="3028950"/>
            <a:ext cx="381000" cy="19050"/>
          </a:xfrm>
          <a:prstGeom prst="rect">
            <a:avLst/>
          </a:prstGeom>
          <a:solidFill>
            <a:srgbClr val="A79E8C">
              <a:alpha val="70000"/>
            </a:srgbClr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5905500" y="3028950"/>
            <a:ext cx="381000" cy="19050"/>
          </a:xfrm>
          <a:prstGeom prst="rect">
            <a:avLst/>
          </a:prstGeom>
          <a:solidFill>
            <a:srgbClr val="5F8A72">
              <a:alpha val="70000"/>
            </a:srgbClr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8029575" y="3028950"/>
            <a:ext cx="381000" cy="19050"/>
          </a:xfrm>
          <a:prstGeom prst="rect">
            <a:avLst/>
          </a:prstGeom>
          <a:solidFill>
            <a:srgbClr val="B0552E">
              <a:alpha val="70000"/>
            </a:srgbClr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10153650" y="3028950"/>
            <a:ext cx="381000" cy="19050"/>
          </a:xfrm>
          <a:prstGeom prst="rect">
            <a:avLst/>
          </a:prstGeom>
          <a:solidFill>
            <a:srgbClr val="4E6E7E">
              <a:alpha val="70000"/>
            </a:srgbClr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7696200" y="3876675"/>
            <a:ext cx="28575" cy="2152650"/>
          </a:xfrm>
          <a:prstGeom prst="rect">
            <a:avLst/>
          </a:prstGeom>
          <a:solidFill>
            <a:srgbClr val="6E8F7C">
              <a:alpha val="35000"/>
            </a:srgbClr>
          </a:solidFill>
          <a:ln/>
        </p:spPr>
        <p:txBody>
          <a:bodyPr/>
          <a:p/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2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30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62" name="" descr="&lt;Slide style={{ width: 1280, height: 720, background: '#FBF3E3', padding: '20px 72px', flexDirection: 'column' }}&gt;&#10;    &lt;Box style={{ height: 84, flexDirection: 'row', justifyContent: 'space-between', alignItems: 'flex-start' }}&gt;&#10;        &lt;Box style={{ flexDirection: 'column', gap: 6 }}&gt;&#10;            &lt;Text style={{ fontSize: 15, letterSpacing: 3, color: '#B0552E', fontFamily: '&quot;PingFang SC&quot;, sans-serif' }}&gt;文 化 内 核&lt;/Text&gt;&#10;            &lt;Text style={{ fontSize: 36, fontWeight: 'bold', color: '#241C14', fontFamily: '&quot;Songti SC&quot;,&quot;STSong&quot;,serif' }}&gt;五脏：串联五音与身体练习的内部线索&lt;/Text&gt;&#10;        &lt;/Box&gt;&#10;        &lt;Box style={{ width: 44, height: 44, borderRadius: 4, background: 'linear-gradient(135deg,#C2543C 0%,#8F3F1F 100%)', justifyContent: 'center', alignItems: 'center' }}&gt;&#10;            &lt;Text style={{ fontSize: 20, color: '#FBEFD8', fontFamily: '&quot;Songti SC&quot;,serif', fontWeight: 'bold' }}&gt;弦&lt;/Text&gt;&#10;        &lt;/Box&gt;&#10;    &lt;/Box&gt;&#10;    &lt;Box style={{ height: 1, background: '#E3D6BC', marginTop: 6 }} /&gt;&#10;    &lt;Box style={{ flexDirection: 'row', gap: 30, marginTop: 22, height: 520 }}&gt;&#10;        &lt;Table&#10;            style={{ width: 800, height: 512 }}&#10;            defaultTextStyle={{ fontSize: 17, textAlign: 'center', color: '#3A2F22', fontFamily: '&quot;PingFang SC&quot;, sans-serif' }}&#10;            defaultCellStyle={{ padding: 8, border: { left: { width: 1, color: '#E3D6BC' }, right: { width: 1, color: '#E3D6BC' }, top: { width: 1, color: '#E3D6BC' }, bottom: { width: 1, color: '#E3D6BC' } } }}&#10;            cells={[&#10;                [&#10;                    { text: '五脏线索', textStyle: { bold: true, color: '#FBEFD8' }, cellStyle: { background: { color: '#B0552E' } } },&#10;                    { text: '五音', textStyle: { bold: true, color: '#FBEFD8' }, cellStyle: { background: { color: '#B0552E' } } },&#10;                    { text: '五行', textStyle: { bold: true, color: '#FBEFD8' }, cellStyle: { background: { color: '#B0552E' } } },&#10;                    { text: '体验编排意象', textStyle: { bold: true, color: '#FBEFD8' }, cellStyle: { background: { color: '#B0552E' } } },&#10;                    { text: '八段锦关联动作', textStyle: { bold: true, color: '#FBEFD8' }, cellStyle: { background: { color: '#B0552E' } } },&#10;                ],&#10;                [&#10;                    { text: '心', textStyle: { bold: true } },&#10;                    { text: '徵', textStyle: { bold: true, color: '#B0552E', fontSize: 22 } },&#10;                    '火', '明亮、提振', '摇头摆尾去心火',&#10;                ],&#10;                [&#10;                    { text: '肝', textStyle: { bold: true }, cellStyle: { background: { color: '#F7EEDC' } } },&#10;                    { text: '角', textStyle: { bold: true, color: '#4E7A61', fontSize: 22 }, cellStyle: { background: { color: '#F7EEDC' } } },&#10;                    { text: '木', cellStyle: { background: { color: '#F7EEDC' } } },&#10;                    { text: '舒展、疏达', cellStyle: { background: { color: '#F7EEDC' } } },&#10;                    { text: '攒拳怒目增气力', cellStyle: { background: { color: '#F7EEDC' } } },&#10;                ],&#10;                [&#10;                    { text: '脾', textStyle: { bold: true } },&#10;                    { text: '宫', textStyle: { bold: true, color: '#B08A3E', fontSize: 22 } },&#10;                    '土', '平和、承载', '调理脾胃须单举',&#10;                ],&#10;                [&#10;                    { text: '肺', textStyle: { bold: true }, cellStyle: { background: { color: '#F7EEDC' } } },&#10;                    { text: '商', textStyle: { bold: true, color: '#8C8474', fontSize: 22 }, cellStyle: { background: { color: '#F7EEDC' } } },&#10;                    { text: '金', cellStyle: { background: { color: '#F7EEDC' } } },&#10;                    { text: '收敛、清肃', cellStyle: { background: { color: '#F7EEDC' } } },&#10;                    { text: '左右开弓似射雕', cellStyle: { background: { color: '#F7EEDC' } } },&#10;                ],&#10;                [&#10;                    { text: '肾', textStyle: { bold: true } },&#10;                    { text: '羽', textStyle: { bold: true, color: '#4E6E7E', fontSize: 22 } },&#10;                    '水', '沉静、润下', '两手攀足固肾腰',&#10;                ],&#10;            ]}&#10;        /&gt;&#10;        &lt;Box style={{ flex: 1, flexDirection: 'column', gap: 16 }}&gt;&#10;            &lt;Box style={{ flexDirection: 'column', gap: 10, background: '#F2E7D2', borderRadius: 6, padding: 20, borderLeft: '3px solid #6E8F7C' }}&gt;&#10;                &lt;Text style={{ fontSize: 15, letterSpacing: 2, color: '#6E8F7C', fontFamily: '&quot;PingFang SC&quot;, sans-serif' }}&gt;典 籍 依 据&lt;/Text&gt;&#10;                &lt;Text style={{ fontSize: 17, color: '#5C4E3C', fontFamily: '&quot;PingFang SC&quot;, sans-serif', lineHeight: 1.65 }}&gt;&#10;                    《黄帝内经 · 素问 · 阴阳应象大论》：东方「在藏为肝……在音为角」，南方「在藏为心……在音为徵」。弦养的五脏串联，建立在这一体系之上。&#10;                &lt;/Text&gt;&#10;            &lt;/Box&gt;&#10;            &lt;Box style={{ flex: 1, flexDirection: 'column', justifyContent: 'center', gap: 12, paddingLeft: 20, borderLeft: '3px solid #B0552E' }}&gt;&#10;                &lt;Text style={{ fontSize: 19, fontWeight: 'bold', color: '#241C14', fontFamily: '&quot;PingFang SC&quot;, sans-serif', lineHeight: 1.6 }}&gt;&#10;                    文化关联 ≠ 播放指令&#10;                &lt;/Text&gt;&#10;                &lt;Text style={{ fontSize: 17, color: '#5C4E3C', fontFamily: '&quot;PingFang SC&quot;, sans-serif', lineHeight: 1.7 }}&gt;&#10;                    五脏是组织声音、身体与情绪文化语境的内部线索，不是系统检测出的脏器状态；关联动作也不是「某个器官有问题就练某一式」的建议。其余三式仍保留在完整练习中，用它们组织起始、中段与收束。&#10;                &lt;/Text&gt;&#10;            &lt;/Box&gt;&#10;        &lt;/Box&gt;&#10;    &lt;/Box&gt;&#10;    &lt;Box style={{ height: 32, flexDirection: 'row', justifyContent: 'space-between', alignItems: 'flex-end' }}&gt;&#10;        &lt;Text style={{ fontSize: 14, color: '#A9977B', fontFamily: '&quot;PingFang SC&quot;, sans-serif' }}&gt;弦养 · 以身为琴，以动为弦&lt;/Text&gt;&#10;        &lt;Text style={{ fontSize: 14, color: '#A9977B', fontFamily: '&quot;PingFang SC&quot;, sans-serif' }}&gt;03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3E3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文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化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内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核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5829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41C14"/>
                </a:solidFill>
                <a:latin typeface="Songti SC"/>
                <a:ea typeface="Songti SC"/>
              </a:rPr>
              <a:t>五脏：串联五音与身体练习的内部线索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11087100" y="190500"/>
            <a:ext cx="419100" cy="4191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1201400" y="285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85800" y="1047750"/>
            <a:ext cx="10820400" cy="9525"/>
          </a:xfrm>
          <a:prstGeom prst="rect">
            <a:avLst/>
          </a:prstGeom>
          <a:solidFill>
            <a:srgbClr val="E3D6BC"/>
          </a:solidFill>
          <a:ln/>
        </p:spPr>
        <p:txBody>
          <a:bodyPr/>
          <a:p/>
        </p:txBody>
      </p:sp>
      <p:graphicFrame>
        <p:nvGraphicFramePr>
          <p:cNvPr id="169" name=""/>
          <p:cNvGraphicFramePr/>
          <p:nvPr/>
        </p:nvGraphicFramePr>
        <p:xfrm rot="0" flipH="0" flipV="0">
          <a:off x="685800" y="1266825"/>
          <a:ext cx="7620000" cy="4876800"/>
        </p:xfrm>
        <a:graphic>
          <a:graphicData uri="http://schemas.openxmlformats.org/drawingml/2006/table">
            <a:tbl>
              <a:tblGrid>
                <a:gridCol w="1460030">
                  <a:extLst>
                    <a:ext uri="{9D8B030D-6E8A-4147-A177-3AD203B41FA5}">
                      <a16:colId val="1"/>
                    </a:ext>
                  </a:extLst>
                </a:gridCol>
                <a:gridCol w="820326">
                  <a:extLst>
                    <a:ext uri="{9D8B030D-6E8A-4147-A177-3AD203B41FA5}">
                      <a16:colId val="2"/>
                    </a:ext>
                  </a:extLst>
                </a:gridCol>
                <a:gridCol w="820326">
                  <a:extLst>
                    <a:ext uri="{9D8B030D-6E8A-4147-A177-3AD203B41FA5}">
                      <a16:colId val="3"/>
                    </a:ext>
                  </a:extLst>
                </a:gridCol>
                <a:gridCol w="2099733">
                  <a:extLst>
                    <a:ext uri="{9D8B030D-6E8A-4147-A177-3AD203B41FA5}">
                      <a16:colId val="4"/>
                    </a:ext>
                  </a:extLst>
                </a:gridCol>
                <a:gridCol w="2419585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69553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BEFD8"/>
                          </a:solidFill>
                          <a:latin typeface="PingFang SC"/>
                          <a:ea typeface="PingFang SC"/>
                        </a:rPr>
                        <a:t>五脏线索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552E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BEFD8"/>
                          </a:solidFill>
                          <a:latin typeface="PingFang SC"/>
                          <a:ea typeface="PingFang SC"/>
                        </a:rPr>
                        <a:t>五音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552E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BEFD8"/>
                          </a:solidFill>
                          <a:latin typeface="PingFang SC"/>
                          <a:ea typeface="PingFang SC"/>
                        </a:rPr>
                        <a:t>五行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552E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BEFD8"/>
                          </a:solidFill>
                          <a:latin typeface="PingFang SC"/>
                          <a:ea typeface="PingFang SC"/>
                        </a:rPr>
                        <a:t>体验编排意象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552E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BEFD8"/>
                          </a:solidFill>
                          <a:latin typeface="PingFang SC"/>
                          <a:ea typeface="PingFang SC"/>
                        </a:rPr>
                        <a:t>八段锦关联动作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552E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3625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650" b="1">
                          <a:solidFill>
                            <a:srgbClr val="B0552E"/>
                          </a:solidFill>
                          <a:latin typeface="PingFang SC"/>
                          <a:ea typeface="PingFang SC"/>
                        </a:rPr>
                        <a:t>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明亮、提振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摇头摆尾去心火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3625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肝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ED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650" b="1">
                          <a:solidFill>
                            <a:srgbClr val="4E7A61"/>
                          </a:solidFill>
                          <a:latin typeface="PingFang SC"/>
                          <a:ea typeface="PingFang SC"/>
                        </a:rPr>
                        <a:t>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ED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ED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舒展、疏达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ED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攒拳怒目增气力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ED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3625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650" b="1">
                          <a:solidFill>
                            <a:srgbClr val="B08A3E"/>
                          </a:solidFill>
                          <a:latin typeface="PingFang SC"/>
                          <a:ea typeface="PingFang SC"/>
                        </a:rPr>
                        <a:t>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平和、承载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调理脾胃须单举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3625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ED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650" b="1">
                          <a:solidFill>
                            <a:srgbClr val="8C8474"/>
                          </a:solidFill>
                          <a:latin typeface="PingFang SC"/>
                          <a:ea typeface="PingFang SC"/>
                        </a:rPr>
                        <a:t>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ED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ED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收敛、清肃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ED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左右开弓似射雕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ED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3625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650" b="1">
                          <a:solidFill>
                            <a:srgbClr val="4E6E7E"/>
                          </a:solidFill>
                          <a:latin typeface="PingFang SC"/>
                          <a:ea typeface="PingFang SC"/>
                        </a:rPr>
                        <a:t>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沉静、润下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3A2F22"/>
                          </a:solidFill>
                          <a:latin typeface="PingFang SC"/>
                          <a:ea typeface="PingFang SC"/>
                        </a:rPr>
                        <a:t>两手攀足固肾腰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70" name=""/>
          <p:cNvSpPr/>
          <p:nvPr/>
        </p:nvSpPr>
        <p:spPr>
          <a:xfrm rot="0" flipH="0" flipV="0">
            <a:off x="8620125" y="1266825"/>
            <a:ext cx="2914650" cy="2257425"/>
          </a:xfrm>
          <a:prstGeom prst="roundRect">
            <a:avLst>
              <a:gd name="adj" fmla="val 2532"/>
            </a:avLst>
          </a:prstGeom>
          <a:solidFill>
            <a:srgbClr val="F2E7D2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8620125" y="1266825"/>
            <a:ext cx="2914650" cy="2257425"/>
          </a:xfrm>
          <a:custGeom>
            <a:pathLst>
              <a:path w="306" h="23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234"/>
                </a:lnTo>
                <a:cubicBezTo>
                  <a:pt x="3" y="235"/>
                  <a:pt x="4" y="237"/>
                  <a:pt x="5" y="237"/>
                </a:cubicBezTo>
                <a:cubicBezTo>
                  <a:pt x="2" y="237"/>
                  <a:pt x="0" y="234"/>
                  <a:pt x="0" y="2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6E8F7C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810625" y="1457325"/>
            <a:ext cx="2505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典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籍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依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据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810625" y="1724025"/>
            <a:ext cx="2505075" cy="1609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5C4E3C"/>
                </a:solidFill>
                <a:latin typeface="PingFang SC"/>
                <a:ea typeface="PingFang SC"/>
              </a:rPr>
              <a:t>《黄帝内经</a:t>
            </a:r>
            <a:r>
              <a:rPr lang="en-US" sz="1275">
                <a:solidFill>
                  <a:srgbClr val="5C4E3C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>
                <a:solidFill>
                  <a:srgbClr val="5C4E3C"/>
                </a:solidFill>
                <a:latin typeface="PingFang SC"/>
                <a:ea typeface="PingFang SC"/>
              </a:rPr>
              <a:t>素问</a:t>
            </a:r>
            <a:r>
              <a:rPr lang="en-US" sz="1275">
                <a:solidFill>
                  <a:srgbClr val="5C4E3C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75">
                <a:solidFill>
                  <a:srgbClr val="5C4E3C"/>
                </a:solidFill>
                <a:latin typeface="PingFang SC"/>
                <a:ea typeface="PingFang SC"/>
              </a:rPr>
              <a:t>阴阳应象大论》：东方「在藏为肝……在音为角」，南方「在藏为心……在音为徵」。弦养的五脏串联，建立在这一体系之上。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8591550" y="3676650"/>
            <a:ext cx="2943225" cy="2543175"/>
          </a:xfrm>
          <a:custGeom>
            <a:pathLst>
              <a:path w="309" h="267">
                <a:moveTo>
                  <a:pt x="0" y="0"/>
                </a:moveTo>
                <a:lnTo>
                  <a:pt x="3" y="0"/>
                </a:lnTo>
                <a:lnTo>
                  <a:pt x="3" y="267"/>
                </a:lnTo>
                <a:lnTo>
                  <a:pt x="0" y="267"/>
                </a:lnTo>
                <a:close/>
              </a:path>
            </a:pathLst>
          </a:custGeom>
          <a:solidFill>
            <a:srgbClr val="B0552E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810625" y="3724275"/>
            <a:ext cx="2695575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241C14"/>
                </a:solidFill>
                <a:latin typeface="PingFang SC"/>
                <a:ea typeface="PingFang SC"/>
              </a:rPr>
              <a:t>文化关联</a:t>
            </a:r>
            <a:r>
              <a:rPr lang="en-US" sz="1425" b="1">
                <a:solidFill>
                  <a:srgbClr val="241C14"/>
                </a:solidFill>
                <a:latin typeface="PingFang SC"/>
                <a:ea typeface="PingFang SC"/>
              </a:rPr>
              <a:t xml:space="preserve"> ≠ </a:t>
            </a:r>
            <a:r>
              <a:rPr lang="zh-CN" sz="1425" b="1">
                <a:solidFill>
                  <a:srgbClr val="241C14"/>
                </a:solidFill>
                <a:latin typeface="PingFang SC"/>
                <a:ea typeface="PingFang SC"/>
              </a:rPr>
              <a:t>播放指令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810625" y="4191000"/>
            <a:ext cx="2695575" cy="1990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C4E3C"/>
                </a:solidFill>
                <a:latin typeface="PingFang SC"/>
                <a:ea typeface="PingFang SC"/>
              </a:rPr>
              <a:t>五脏是组织声音、身体与情绪文化语境的内部线索，不是系统检测出的脏器状态；关联动作也不是「某个器官有问题就练某一式」的建议。其余三式仍保留在完整练习中，用它们组织起始、中段与收束。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width: 1280, height: 720, background: '#FBF3E3', padding: '20px 72px', flexDirection: 'column' }}&gt;&#10;    &lt;Box style={{ height: 78, flexDirection: 'row', justifyContent: 'space-between', alignItems: 'flex-start' }}&gt;&#10;        &lt;Box style={{ flexDirection: 'column', gap: 6 }}&gt;&#10;            &lt;Text style={{ fontSize: 15, letterSpacing: 3, color: '#B0552E', fontFamily: '&quot;PingFang SC&quot;, sans-serif' }}&gt;文 化 内 核 · 数 字 化&lt;/Text&gt;&#10;            &lt;Text style={{ fontSize: 36, fontWeight: 'bold', color: '#241C14', fontFamily: '&quot;Songti SC&quot;,&quot;STSong&quot;,serif' }}&gt;让文化进入可配置内容与可执行声音&lt;/Text&gt;&#10;        &lt;/Box&gt;&#10;        &lt;Box style={{ width: 44, height: 44, borderRadius: 4, background: 'linear-gradient(135deg,#C2543C 0%,#8F3F1F 100%)', justifyContent: 'center', alignItems: 'center' }}&gt;&#10;            &lt;Text style={{ fontSize: 20, color: '#FBEFD8', fontFamily: '&quot;Songti SC&quot;,serif', fontWeight: 'bold' }}&gt;弦&lt;/Text&gt;&#10;        &lt;/Box&gt;&#10;    &lt;/Box&gt;&#10;    &lt;Box style={{ height: 1, background: '#E3D6BC', marginTop: 6 }} /&gt;&#10;    &lt;Box style={{ flexDirection: 'row', gap: 26, marginTop: 18, height: 540 }}&gt;&#10;        &lt;Box style={{ width: 764, flexDirection: 'column', gap: 14 }}&gt;&#10;            &lt;Box style={{ background: '#F2E7D2', borderRadius: 8, padding: '13px 20px', borderLeft: '3px solid #B0552E' }}&gt;&#10;                &lt;Text style={{ fontSize: 17, color: '#5C4E3C', fontFamily: '&quot;PingFang SC&quot;, sans-serif', lineHeight: 1.5 }}&gt;&#10;                    数字化不只是把传统概念写进界面，而是让它进入&lt;span style={{ color: '#B0552E', fontWeight: 'bold' }}&gt;可配置内容&lt;/span&gt;与&lt;span style={{ color: '#B0552E', fontWeight: 'bold' }}&gt;可执行声音&lt;/span&gt;——每条线索都有对应字段、参数与来源。&#10;                &lt;/Text&gt;&#10;            &lt;/Box&gt;&#10;            &lt;Box style={{ flexDirection: 'column', border: '1px solid #E3D6BC', borderRadius: 8, overflow: 'hidden' }}&gt;&#10;                &lt;Box style={{ flexDirection: 'row', background: '#B0552E', height: 44 }}&gt;&#10;                    &lt;Box style={{ width: 154, paddingLeft: 16, justifyContent: 'center' }}&gt;&#10;                        &lt;Text style={{ fontSize: 16, fontWeight: 'bold', color: '#FBEFD8', fontFamily: '&quot;PingFang SC&quot;, sans-serif' }}&gt;文化内容元素&lt;/Text&gt;&#10;                    &lt;/Box&gt;&#10;                    &lt;Box style={{ width: 322, paddingLeft: 16, justifyContent: 'center' }}&gt;&#10;                        &lt;Text style={{ fontSize: 16, fontWeight: 'bold', color: '#FBEFD8', fontFamily: '&quot;PingFang SC&quot;, sans-serif' }}&gt;数字化表达&lt;/Text&gt;&#10;                    &lt;/Box&gt;&#10;                    &lt;Box style={{ flex: 1, paddingLeft: 16, justifyContent: 'center' }}&gt;&#10;                        &lt;Text style={{ fontSize: 16, fontWeight: 'bold', color: '#FBEFD8', fontFamily: '&quot;PingFang SC&quot;, sans-serif' }}&gt;在体验中的作用&lt;/Text&gt;&#10;                    &lt;/Box&gt;&#10;                &lt;/Box&gt;&#10;                {[&#10;                    { k: '五音', e: '五音名称、产品定弦、基调与乐句参数', r: '生成或组织不同声音氛围' },&#10;                    { k: '五脏关联', e: '五脏、五行、五音、动作意象的关系表', r: '组织入口与推荐解释，不做诊断' },&#10;                    { k: '八段锦', e: '动作编号、次序、示范关键点与判定输出', r: '把身体动作转成可响应事件' },&#10;                    { k: '古琴声音', e: '合成声音参数、录音文件、来源与许可', r: '区分交互合成音与真人演奏' },&#10;                    { k: '阶段体验', e: '阶段编号、点 / 线 / 面形态、触发与收束策略', r: '从单声回应进入连续体验' },&#10;                ].map((r, i) =&gt; (&#10;                    &lt;Box key={i} style={{ flexDirection: 'row', height: 73, borderTop: '1px solid #E3D6BC', background: i % 2 === 0 ? '#FFFFFF' : '#FAF4E6' }}&gt;&#10;                        &lt;Box style={{ width: 154, paddingLeft: 16, paddingRight: 10, justifyContent: 'center' }}&gt;&#10;                            &lt;Text style={{ fontSize: 17, fontWeight: 'bold', color: '#B0552E', fontFamily: '&quot;Songti SC&quot;,serif' }}&gt;{r.k}&lt;/Text&gt;&#10;                        &lt;/Box&gt;&#10;                        &lt;Box style={{ width: 322, paddingLeft: 16, paddingRight: 12, justifyContent: 'center' }}&gt;&#10;                            &lt;Text style={{ fontSize: 15, color: '#4A3E2E', fontFamily: '&quot;PingFang SC&quot;, sans-serif', lineHeight: 1.5 }}&gt;{r.e}&lt;/Text&gt;&#10;                        &lt;/Box&gt;&#10;                        &lt;Box style={{ flex: 1, paddingLeft: 16, paddingRight: 12, justifyContent: 'center' }}&gt;&#10;                            &lt;Text style={{ fontSize: 15, color: '#5C4E3C', fontFamily: '&quot;PingFang SC&quot;, sans-serif', lineHeight: 1.5 }}&gt;{r.r}&lt;/Text&gt;&#10;                        &lt;/Box&gt;&#10;                    &lt;/Box&gt;&#10;                ))}&#10;            &lt;/Box&gt;&#10;        &lt;/Box&gt;&#10;        &lt;Box style={{ flex: 1, flexDirection: 'column', gap: 12 }}&gt;&#10;            &lt;Text style={{ fontSize: 15, letterSpacing: 2, color: '#B08A3E', fontFamily: '&quot;PingFang SC&quot;, sans-serif' }}&gt;文 化 配 置 模 型 · 示 例&lt;/Text&gt;&#10;            &lt;Box style={{ background: '#1E1710', borderRadius: 8, padding: '14px 16px' }}&gt;&#10;                &lt;Text style={{ fontSize: 12.5, color: '#8A7A5E', fontFamily: '&quot;SF Mono&quot;,&quot;Menlo&quot;,monospace', lineHeight: 1.65 }}&gt;{'{'}&lt;/Text&gt;&#10;                &lt;Text style={{ fontSize: 12.5, color: '#C9A97E', fontFamily: '&quot;SF Mono&quot;,&quot;Menlo&quot;,monospace', lineHeight: 1.65 }}&gt;{'  &quot;profileId&quot;: &quot;lung-calm-home&quot;,'}&lt;/Text&gt;&#10;                &lt;Text style={{ fontSize: 12.5, color: '#E9B85F', fontFamily: '&quot;SF Mono&quot;,&quot;Menlo&quot;,monospace', lineHeight: 1.65 }}&gt;{'  &quot;tone&quot;: &quot;商&quot;,'}&lt;/Text&gt;&#10;                &lt;Text style={{ fontSize: 12.5, color: '#C9A97E', fontFamily: '&quot;SF Mono&quot;,&quot;Menlo&quot;,monospace', lineHeight: 1.65 }}&gt;{'  &quot;mood&quot;: &quot;收敛、安静&quot;,'}&lt;/Text&gt;&#10;                &lt;Text style={{ fontSize: 12.5, color: '#C9A97E', fontFamily: '&quot;SF Mono&quot;,&quot;Menlo&quot;,monospace', lineHeight: 1.65 }}&gt;{'  &quot;audioProfileId&quot;: &quot;shang-home&quot;,'}&lt;/Text&gt;&#10;                &lt;Text style={{ fontSize: 12.5, color: '#FBF3E3', fontFamily: '&quot;SF Mono&quot;,&quot;Menlo&quot;,monospace', lineHeight: 1.65 }}&gt;{'  &quot;disclaimer&quot;: &quot;文化编排，不构成医疗建议&quot;'}&lt;/Text&gt;&#10;                &lt;Text style={{ fontSize: 12.5, color: '#8A7A5E', fontFamily: '&quot;SF Mono&quot;,&quot;Menlo&quot;,monospace', lineHeight: 1.65 }}&gt;{'}'}&lt;/Text&gt;&#10;            &lt;/Box&gt;&#10;            &lt;Box style={{ flex: 1, flexDirection: 'column', gap: 8, background: '#F2E7D2', borderRadius: 8, padding: 18, borderLeft: '3px solid #6E8F7C' }}&gt;&#10;                &lt;Text style={{ fontSize: 16, fontWeight: 'bold', color: '#4E5B4F', fontFamily: '&quot;PingFang SC&quot;, sans-serif' }}&gt;可配置，而非硬编码&lt;/Text&gt;&#10;                &lt;Text style={{ fontSize: 15, color: '#4E5B4F', fontFamily: '&quot;PingFang SC&quot;, sans-serif', lineHeight: 1.6 }}&gt;&#10;                    文化关联从页面与代码中独立成配置记录（五音 / 五脏标签、编排理由、练习内容、阶段、音频标识、来源与授权），避免硬编码进动作识别器。&#10;                &lt;/Text&gt;&#10;            &lt;/Box&gt;&#10;        &lt;/Box&gt;&#10;    &lt;/Box&gt;&#10;    &lt;Box style={{ height: 30, flexDirection: 'row', justifyContent: 'space-between', alignItems: 'flex-end' }}&gt;&#10;        &lt;Text style={{ fontSize: 14, color: '#A9977B', fontFamily: '&quot;PingFang SC&quot;, sans-serif' }}&gt;弦养 · 以身为琴，以动为弦&lt;/Text&gt;&#10;        &lt;Text style={{ fontSize: 14, color: '#A9977B', fontFamily: '&quot;PingFang SC&quot;, sans-serif' }}&gt;04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3E3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文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化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内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核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数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字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化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5486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41C14"/>
                </a:solidFill>
                <a:latin typeface="Songti SC"/>
                <a:ea typeface="Songti SC"/>
              </a:rPr>
              <a:t>让文化进入可配置内容与可执行声音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11087100" y="190500"/>
            <a:ext cx="419100" cy="4191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201400" y="285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85800" y="990600"/>
            <a:ext cx="10820400" cy="9525"/>
          </a:xfrm>
          <a:prstGeom prst="rect">
            <a:avLst/>
          </a:prstGeom>
          <a:solidFill>
            <a:srgbClr val="E3D6BC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714375" y="1171575"/>
            <a:ext cx="7277100" cy="838200"/>
          </a:xfrm>
          <a:prstGeom prst="roundRect">
            <a:avLst>
              <a:gd name="adj" fmla="val 9091"/>
            </a:avLst>
          </a:prstGeom>
          <a:solidFill>
            <a:srgbClr val="F2E7D2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714375" y="1171575"/>
            <a:ext cx="7277100" cy="838200"/>
          </a:xfrm>
          <a:custGeom>
            <a:pathLst>
              <a:path w="764" h="8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3"/>
                </a:lnTo>
                <a:cubicBezTo>
                  <a:pt x="3" y="85"/>
                  <a:pt x="5" y="87"/>
                  <a:pt x="7" y="88"/>
                </a:cubicBezTo>
                <a:cubicBezTo>
                  <a:pt x="3" y="87"/>
                  <a:pt x="0" y="84"/>
                  <a:pt x="0" y="8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B0552E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04875" y="1295400"/>
            <a:ext cx="68675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5C4E3C"/>
                </a:solidFill>
                <a:latin typeface="PingFang SC"/>
                <a:ea typeface="PingFang SC"/>
              </a:rPr>
              <a:t>数字化不只是把传统概念写进界面，而是让它进入</a:t>
            </a:r>
            <a:r>
              <a:rPr lang="zh-CN" sz="1275" b="1">
                <a:solidFill>
                  <a:srgbClr val="B0552E"/>
                </a:solidFill>
                <a:latin typeface="PingFang SC"/>
                <a:ea typeface="PingFang SC"/>
              </a:rPr>
              <a:t>可配置内容</a:t>
            </a:r>
            <a:r>
              <a:rPr lang="zh-CN" sz="1275">
                <a:solidFill>
                  <a:srgbClr val="5C4E3C"/>
                </a:solidFill>
                <a:latin typeface="PingFang SC"/>
                <a:ea typeface="PingFang SC"/>
              </a:rPr>
              <a:t>与</a:t>
            </a:r>
            <a:r>
              <a:rPr lang="zh-CN" sz="1275" b="1">
                <a:solidFill>
                  <a:srgbClr val="B0552E"/>
                </a:solidFill>
                <a:latin typeface="PingFang SC"/>
                <a:ea typeface="PingFang SC"/>
              </a:rPr>
              <a:t>可执行声音</a:t>
            </a:r>
            <a:r>
              <a:rPr lang="zh-CN" sz="1275">
                <a:solidFill>
                  <a:srgbClr val="5C4E3C"/>
                </a:solidFill>
                <a:latin typeface="PingFang SC"/>
                <a:ea typeface="PingFang SC"/>
              </a:rPr>
              <a:t>——每条线索都有对应字段、参数与来源。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85800" y="2143125"/>
            <a:ext cx="7277100" cy="3895725"/>
          </a:xfrm>
          <a:prstGeom prst="roundRect">
            <a:avLst>
              <a:gd name="adj" fmla="val 1956"/>
            </a:avLst>
          </a:prstGeom>
          <a:ln w="12700">
            <a:solidFill>
              <a:srgbClr val="E3D6BC"/>
            </a:solidFill>
            <a:prstDash val="solid"/>
          </a:ln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685800" y="2143125"/>
            <a:ext cx="7277100" cy="419100"/>
          </a:xfrm>
          <a:custGeom>
            <a:pathLst>
              <a:path w="764" h="44">
                <a:moveTo>
                  <a:pt x="756" y="0"/>
                </a:moveTo>
                <a:cubicBezTo>
                  <a:pt x="761" y="0"/>
                  <a:pt x="764" y="4"/>
                  <a:pt x="764" y="8"/>
                </a:cubicBezTo>
                <a:lnTo>
                  <a:pt x="764" y="44"/>
                </a:lnTo>
                <a:lnTo>
                  <a:pt x="0" y="44"/>
                </a:ln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lnTo>
                  <a:pt x="756" y="0"/>
                </a:lnTo>
                <a:close/>
              </a:path>
            </a:pathLst>
          </a:custGeom>
          <a:solidFill>
            <a:srgbClr val="B0552E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38200" y="2257425"/>
            <a:ext cx="1314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EFD8"/>
                </a:solidFill>
                <a:latin typeface="PingFang SC"/>
                <a:ea typeface="PingFang SC"/>
              </a:rPr>
              <a:t>文化内容元素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2305050" y="2257425"/>
            <a:ext cx="2914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EFD8"/>
                </a:solidFill>
                <a:latin typeface="PingFang SC"/>
                <a:ea typeface="PingFang SC"/>
              </a:rPr>
              <a:t>数字化表达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372100" y="2257425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EFD8"/>
                </a:solidFill>
                <a:latin typeface="PingFang SC"/>
                <a:ea typeface="PingFang SC"/>
              </a:rPr>
              <a:t>在体验中的作用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85800" y="2571750"/>
            <a:ext cx="72771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685800" y="2562225"/>
            <a:ext cx="7277100" cy="695325"/>
          </a:xfrm>
          <a:custGeom>
            <a:pathLst>
              <a:path w="764" h="73">
                <a:moveTo>
                  <a:pt x="0" y="0"/>
                </a:moveTo>
                <a:lnTo>
                  <a:pt x="764" y="0"/>
                </a:lnTo>
                <a:lnTo>
                  <a:pt x="764" y="1"/>
                </a:lnTo>
                <a:lnTo>
                  <a:pt x="0" y="1"/>
                </a:lnTo>
                <a:close/>
              </a:path>
            </a:pathLst>
          </a:custGeom>
          <a:solidFill>
            <a:srgbClr val="E3D6BC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38200" y="2819400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0552E"/>
                </a:solidFill>
                <a:latin typeface="Songti SC"/>
                <a:ea typeface="Songti SC"/>
              </a:rPr>
              <a:t>五音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305050" y="2790825"/>
            <a:ext cx="280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3E2E"/>
                </a:solidFill>
                <a:latin typeface="PingFang SC"/>
                <a:ea typeface="PingFang SC"/>
              </a:rPr>
              <a:t>五音名称、产品定弦、基调与乐句参数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372100" y="279082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生成或组织不同声音氛围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85800" y="3267075"/>
            <a:ext cx="7277100" cy="685800"/>
          </a:xfrm>
          <a:prstGeom prst="rect">
            <a:avLst/>
          </a:prstGeom>
          <a:solidFill>
            <a:srgbClr val="FAF4E6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685800" y="3257550"/>
            <a:ext cx="7277100" cy="695325"/>
          </a:xfrm>
          <a:custGeom>
            <a:pathLst>
              <a:path w="764" h="73">
                <a:moveTo>
                  <a:pt x="0" y="0"/>
                </a:moveTo>
                <a:lnTo>
                  <a:pt x="764" y="0"/>
                </a:lnTo>
                <a:lnTo>
                  <a:pt x="764" y="1"/>
                </a:lnTo>
                <a:lnTo>
                  <a:pt x="0" y="1"/>
                </a:lnTo>
                <a:close/>
              </a:path>
            </a:pathLst>
          </a:custGeom>
          <a:solidFill>
            <a:srgbClr val="E3D6BC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38200" y="3514725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0552E"/>
                </a:solidFill>
                <a:latin typeface="Songti SC"/>
                <a:ea typeface="Songti SC"/>
              </a:rPr>
              <a:t>五脏关联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2305050" y="3486150"/>
            <a:ext cx="280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3E2E"/>
                </a:solidFill>
                <a:latin typeface="PingFang SC"/>
                <a:ea typeface="PingFang SC"/>
              </a:rPr>
              <a:t>五脏、五行、五音、动作意象的关系表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372100" y="3486150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组织入口与推荐解释，不做诊断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5800" y="3962400"/>
            <a:ext cx="72771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85800" y="3952875"/>
            <a:ext cx="7277100" cy="695325"/>
          </a:xfrm>
          <a:custGeom>
            <a:pathLst>
              <a:path w="764" h="73">
                <a:moveTo>
                  <a:pt x="0" y="0"/>
                </a:moveTo>
                <a:lnTo>
                  <a:pt x="764" y="0"/>
                </a:lnTo>
                <a:lnTo>
                  <a:pt x="764" y="1"/>
                </a:lnTo>
                <a:lnTo>
                  <a:pt x="0" y="1"/>
                </a:lnTo>
                <a:close/>
              </a:path>
            </a:pathLst>
          </a:custGeom>
          <a:solidFill>
            <a:srgbClr val="E3D6B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38200" y="4210050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0552E"/>
                </a:solidFill>
                <a:latin typeface="Songti SC"/>
                <a:ea typeface="Songti SC"/>
              </a:rPr>
              <a:t>八段锦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2305050" y="4181475"/>
            <a:ext cx="280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3E2E"/>
                </a:solidFill>
                <a:latin typeface="PingFang SC"/>
                <a:ea typeface="PingFang SC"/>
              </a:rPr>
              <a:t>动作编号、次序、示范关键点与判定输出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372100" y="41814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把身体动作转成可响应事件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85800" y="4657725"/>
            <a:ext cx="7277100" cy="685800"/>
          </a:xfrm>
          <a:prstGeom prst="rect">
            <a:avLst/>
          </a:prstGeom>
          <a:solidFill>
            <a:srgbClr val="FAF4E6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685800" y="4648200"/>
            <a:ext cx="7277100" cy="695325"/>
          </a:xfrm>
          <a:custGeom>
            <a:pathLst>
              <a:path w="764" h="73">
                <a:moveTo>
                  <a:pt x="0" y="0"/>
                </a:moveTo>
                <a:lnTo>
                  <a:pt x="764" y="0"/>
                </a:lnTo>
                <a:lnTo>
                  <a:pt x="764" y="1"/>
                </a:lnTo>
                <a:lnTo>
                  <a:pt x="0" y="1"/>
                </a:lnTo>
                <a:close/>
              </a:path>
            </a:pathLst>
          </a:custGeom>
          <a:solidFill>
            <a:srgbClr val="E3D6BC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38200" y="4905375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0552E"/>
                </a:solidFill>
                <a:latin typeface="Songti SC"/>
                <a:ea typeface="Songti SC"/>
              </a:rPr>
              <a:t>古琴声音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2305050" y="4876800"/>
            <a:ext cx="280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3E2E"/>
                </a:solidFill>
                <a:latin typeface="PingFang SC"/>
                <a:ea typeface="PingFang SC"/>
              </a:rPr>
              <a:t>合成声音参数、录音文件、来源与许可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372100" y="4876800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区分交互合成音与真人演奏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85800" y="5353050"/>
            <a:ext cx="7277100" cy="685800"/>
          </a:xfrm>
          <a:custGeom>
            <a:pathLst>
              <a:path w="764" h="72">
                <a:moveTo>
                  <a:pt x="764" y="64"/>
                </a:moveTo>
                <a:cubicBezTo>
                  <a:pt x="764" y="68"/>
                  <a:pt x="760" y="72"/>
                  <a:pt x="756" y="72"/>
                </a:cubicBezTo>
                <a:lnTo>
                  <a:pt x="8" y="72"/>
                </a:lnTo>
                <a:cubicBezTo>
                  <a:pt x="4" y="72"/>
                  <a:pt x="0" y="68"/>
                  <a:pt x="0" y="64"/>
                </a:cubicBezTo>
                <a:lnTo>
                  <a:pt x="0" y="0"/>
                </a:lnTo>
                <a:lnTo>
                  <a:pt x="764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85800" y="5343525"/>
            <a:ext cx="7277100" cy="695325"/>
          </a:xfrm>
          <a:custGeom>
            <a:pathLst>
              <a:path w="764" h="73">
                <a:moveTo>
                  <a:pt x="0" y="0"/>
                </a:moveTo>
                <a:lnTo>
                  <a:pt x="764" y="0"/>
                </a:lnTo>
                <a:lnTo>
                  <a:pt x="764" y="1"/>
                </a:lnTo>
                <a:lnTo>
                  <a:pt x="0" y="1"/>
                </a:lnTo>
                <a:close/>
              </a:path>
            </a:pathLst>
          </a:custGeom>
          <a:solidFill>
            <a:srgbClr val="E3D6BC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8200" y="5600700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0552E"/>
                </a:solidFill>
                <a:latin typeface="Songti SC"/>
                <a:ea typeface="Songti SC"/>
              </a:rPr>
              <a:t>阶段体验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2305050" y="5438775"/>
            <a:ext cx="2800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3E2E"/>
                </a:solidFill>
                <a:latin typeface="PingFang SC"/>
                <a:ea typeface="PingFang SC"/>
              </a:rPr>
              <a:t>阶段编号、点</a:t>
            </a:r>
            <a:r>
              <a:rPr lang="en-US" sz="1125">
                <a:solidFill>
                  <a:srgbClr val="4A3E2E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4A3E2E"/>
                </a:solidFill>
                <a:latin typeface="PingFang SC"/>
                <a:ea typeface="PingFang SC"/>
              </a:rPr>
              <a:t>线</a:t>
            </a:r>
            <a:r>
              <a:rPr lang="en-US" sz="1125">
                <a:solidFill>
                  <a:srgbClr val="4A3E2E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4A3E2E"/>
                </a:solidFill>
                <a:latin typeface="PingFang SC"/>
                <a:ea typeface="PingFang SC"/>
              </a:rPr>
              <a:t>面形态、触发与收束策略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372100" y="557212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从单声回应进入连续体验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210550" y="1171575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文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化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配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置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模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型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示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例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210550" y="1457325"/>
            <a:ext cx="3295650" cy="1933575"/>
          </a:xfrm>
          <a:prstGeom prst="roundRect">
            <a:avLst>
              <a:gd name="adj" fmla="val 3941"/>
            </a:avLst>
          </a:prstGeom>
          <a:solidFill>
            <a:srgbClr val="1E1710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362950" y="1590675"/>
            <a:ext cx="299085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38">
                <a:solidFill>
                  <a:srgbClr val="8A7A5E"/>
                </a:solidFill>
                <a:latin typeface="SF Mono"/>
                <a:ea typeface="SF Mono"/>
              </a:rPr>
              <a:t>{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362950" y="1828800"/>
            <a:ext cx="299085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38">
                <a:solidFill>
                  <a:srgbClr val="C9A97E"/>
                </a:solidFill>
                <a:latin typeface="SF Mono"/>
                <a:ea typeface="SF Mono"/>
              </a:rPr>
              <a:t xml:space="preserve">  "profileId": "lung-calm-home",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362950" y="2066925"/>
            <a:ext cx="299085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38">
                <a:solidFill>
                  <a:srgbClr val="E9B85F"/>
                </a:solidFill>
                <a:latin typeface="SF Mono"/>
                <a:ea typeface="SF Mono"/>
              </a:rPr>
              <a:t xml:space="preserve">  "tone": "</a:t>
            </a:r>
            <a:r>
              <a:rPr lang="zh-CN" sz="938">
                <a:solidFill>
                  <a:srgbClr val="E9B85F"/>
                </a:solidFill>
                <a:latin typeface="SF Mono"/>
                <a:ea typeface="SF Mono"/>
              </a:rPr>
              <a:t>商</a:t>
            </a:r>
            <a:r>
              <a:rPr lang="en-US" sz="938">
                <a:solidFill>
                  <a:srgbClr val="E9B85F"/>
                </a:solidFill>
                <a:latin typeface="SF Mono"/>
                <a:ea typeface="SF Mono"/>
              </a:rPr>
              <a:t>",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362950" y="2305050"/>
            <a:ext cx="299085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38">
                <a:solidFill>
                  <a:srgbClr val="C9A97E"/>
                </a:solidFill>
                <a:latin typeface="SF Mono"/>
                <a:ea typeface="SF Mono"/>
              </a:rPr>
              <a:t xml:space="preserve">  "mood": "</a:t>
            </a:r>
            <a:r>
              <a:rPr lang="zh-CN" sz="938">
                <a:solidFill>
                  <a:srgbClr val="C9A97E"/>
                </a:solidFill>
                <a:latin typeface="SF Mono"/>
                <a:ea typeface="SF Mono"/>
              </a:rPr>
              <a:t>收敛、安静</a:t>
            </a:r>
            <a:r>
              <a:rPr lang="en-US" sz="938">
                <a:solidFill>
                  <a:srgbClr val="C9A97E"/>
                </a:solidFill>
                <a:latin typeface="SF Mono"/>
                <a:ea typeface="SF Mono"/>
              </a:rPr>
              <a:t>",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362950" y="2543175"/>
            <a:ext cx="299085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38">
                <a:solidFill>
                  <a:srgbClr val="C9A97E"/>
                </a:solidFill>
                <a:latin typeface="SF Mono"/>
                <a:ea typeface="SF Mono"/>
              </a:rPr>
              <a:t xml:space="preserve">  "audioProfileId": "shang-home",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62950" y="2781300"/>
            <a:ext cx="299085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38">
                <a:solidFill>
                  <a:srgbClr val="FBF3E3"/>
                </a:solidFill>
                <a:latin typeface="SF Mono"/>
                <a:ea typeface="SF Mono"/>
              </a:rPr>
              <a:t xml:space="preserve">  "disclaimer": "</a:t>
            </a:r>
            <a:r>
              <a:rPr lang="zh-CN" sz="938">
                <a:solidFill>
                  <a:srgbClr val="FBF3E3"/>
                </a:solidFill>
                <a:latin typeface="SF Mono"/>
                <a:ea typeface="SF Mono"/>
              </a:rPr>
              <a:t>文化编排，不构成医疗建议</a:t>
            </a:r>
            <a:r>
              <a:rPr lang="en-US" sz="938">
                <a:solidFill>
                  <a:srgbClr val="FBF3E3"/>
                </a:solidFill>
                <a:latin typeface="SF Mono"/>
                <a:ea typeface="SF Mono"/>
              </a:rPr>
              <a:t>"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62950" y="3019425"/>
            <a:ext cx="299085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38">
                <a:solidFill>
                  <a:srgbClr val="8A7A5E"/>
                </a:solidFill>
                <a:latin typeface="SF Mono"/>
                <a:ea typeface="SF Mono"/>
              </a:rPr>
              <a:t>}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8239125" y="3505200"/>
            <a:ext cx="3295650" cy="2809875"/>
          </a:xfrm>
          <a:prstGeom prst="roundRect">
            <a:avLst>
              <a:gd name="adj" fmla="val 2712"/>
            </a:avLst>
          </a:prstGeom>
          <a:solidFill>
            <a:srgbClr val="F2E7D2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8239125" y="3505200"/>
            <a:ext cx="3295650" cy="2809875"/>
          </a:xfrm>
          <a:custGeom>
            <a:pathLst>
              <a:path w="346" h="29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290"/>
                </a:lnTo>
                <a:cubicBezTo>
                  <a:pt x="3" y="292"/>
                  <a:pt x="5" y="294"/>
                  <a:pt x="7" y="295"/>
                </a:cubicBezTo>
                <a:cubicBezTo>
                  <a:pt x="3" y="294"/>
                  <a:pt x="0" y="291"/>
                  <a:pt x="0" y="28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E8F7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410575" y="3676650"/>
            <a:ext cx="2924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E5B4F"/>
                </a:solidFill>
                <a:latin typeface="PingFang SC"/>
                <a:ea typeface="PingFang SC"/>
              </a:rPr>
              <a:t>可配置，而非硬编码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410575" y="3943350"/>
            <a:ext cx="292417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E5B4F"/>
                </a:solidFill>
                <a:latin typeface="PingFang SC"/>
                <a:ea typeface="PingFang SC"/>
              </a:rPr>
              <a:t>文化关联从页面与代码中独立成配置记录（五音</a:t>
            </a:r>
            <a:r>
              <a:rPr lang="en-US" sz="1125">
                <a:solidFill>
                  <a:srgbClr val="4E5B4F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4E5B4F"/>
                </a:solidFill>
                <a:latin typeface="PingFang SC"/>
                <a:ea typeface="PingFang SC"/>
              </a:rPr>
              <a:t>五脏标签、编排理由、练习内容、阶段、音频标识、来源与授权），避免硬编码进动作识别器。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85800" y="643890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049000" y="64389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34" name="" descr="&lt;Slide style={{ width: 1280, height: 720, background: '#FBF3E3', padding: '20px 72px', flexDirection: 'column' }}&gt;&#10;    &lt;Box style={{ height: 84, flexDirection: 'row', justifyContent: 'space-between', alignItems: 'flex-start' }}&gt;&#10;        &lt;Box style={{ flexDirection: 'column', gap: 6 }}&gt;&#10;            &lt;Text style={{ fontSize: 15, letterSpacing: 3, color: '#B0552E', fontFamily: '&quot;PingFang SC&quot;, sans-serif' }}&gt;核 心 功 能 一&lt;/Text&gt;&#10;            &lt;Text style={{ fontSize: 36, fontWeight: 'bold', color: '#241C14', fontFamily: '&quot;Songti SC&quot;,&quot;STSong&quot;,serif' }}&gt;静听与跟练：让身体参与声音&lt;/Text&gt;&#10;        &lt;/Box&gt;&#10;        &lt;Box style={{ width: 44, height: 44, borderRadius: 4, background: 'linear-gradient(135deg,#C2543C 0%,#8F3F1F 100%)', justifyContent: 'center', alignItems: 'center' }}&gt;&#10;            &lt;Text style={{ fontSize: 20, color: '#FBEFD8', fontFamily: '&quot;Songti SC&quot;,serif', fontWeight: 'bold' }}&gt;弦&lt;/Text&gt;&#10;        &lt;/Box&gt;&#10;    &lt;/Box&gt;&#10;    &lt;Box style={{ height: 1, background: '#E3D6BC', marginTop: 6 }} /&gt;&#10;    &lt;Box style={{ flexDirection: 'row', gap: 28, marginTop: 22, height: 520 }}&gt;&#10;        &lt;Box style={{ width: 680, height: 520, position: 'relative', borderRadius: 8, overflow: 'hidden', boxShadow: '0 12px 34px rgba(60,40,20,0.16)' }}&gt;&#10;            &lt;Image src=&quot;assets/listen_tone.png&quot; style={{ position: 'absolute', top: 0, left: 0, width: 680, height: 520, objectFit: 'cover' }} /&gt;&#10;            &lt;Box style={{ position: 'absolute', top: 252, left: 0, width: 680, height: 268, background: 'linear-gradient(0deg, rgba(24,17,11,0.94) 0%, rgba(24,17,11,0.62) 46%, rgba(24,17,11,0) 100%)' }} /&gt;&#10;            &lt;Box style={{ position: 'absolute', top: 0, left: 0, width: 680, height: 520, flexDirection: 'column', justifyContent: 'flex-end', paddingLeft: 34, paddingRight: 34, paddingBottom: 30, gap: 10 }}&gt;&#10;                &lt;Box style={{ flexDirection: 'row', alignItems: 'center', gap: 12 }}&gt;&#10;                    &lt;Text style={{ fontSize: 26, fontWeight: 'bold', color: '#FBF3E3', fontFamily: '&quot;Songti SC&quot;,serif' }}&gt;静听&lt;/Text&gt;&#10;                    &lt;Box style={{ width: 34, height: 1, background: '#C9A97E' }} /&gt;&#10;                    &lt;Text style={{ fontSize: 16, color: '#C9A97E', fontFamily: '&quot;PingFang SC&quot;, sans-serif' }}&gt;进入五音氛围&lt;/Text&gt;&#10;                &lt;/Box&gt;&#10;                &lt;Text style={{ fontSize: 18, color: '#E4D9C0', fontFamily: '&quot;PingFang SC&quot;, sans-serif', lineHeight: 1.68 }}&gt;&#10;                    不必启动摄像头，也能进入音疗：以「今天想照顾哪里」「今天想要什么氛围」选择声音内容。五脏组织入口，五音组织氛围，古琴短句与已授权录音构成声音素材。&#10;                &lt;/Text&gt;&#10;            &lt;/Box&gt;&#10;        &lt;/Box&gt;&#10;        &lt;Box style={{ flex: 1, flexDirection: 'column', gap: 14 }}&gt;&#10;            &lt;Box style={{ height: 206, borderRadius: 8, overflow: 'hidden', boxShadow: '0 12px 34px rgba(60,40,20,0.16)' }}&gt;&#10;                &lt;Image src=&quot;assets/practice_body.png&quot; style={{ width: '100%', height: 206, objectFit: 'cover' }} /&gt;&#10;            &lt;/Box&gt;&#10;            &lt;Box style={{ flexDirection: 'row', alignItems: 'center', gap: 12, marginTop: 2 }}&gt;&#10;                &lt;Text style={{ fontSize: 26, fontWeight: 'bold', color: '#241C14', fontFamily: '&quot;Songti SC&quot;,serif' }}&gt;跟练&lt;/Text&gt;&#10;                &lt;Box style={{ width: 34, height: 1, background: '#B0552E' }} /&gt;&#10;                &lt;Text style={{ fontSize: 16, color: '#B0552E', fontFamily: '&quot;PingFang SC&quot;, sans-serif' }}&gt;身体参与声音&lt;/Text&gt;&#10;            &lt;/Box&gt;&#10;            &lt;Text style={{ fontSize: 18, color: '#5C4E3C', fontFamily: '&quot;PingFang SC&quot;, sans-serif', lineHeight: 1.68 }}&gt;&#10;                在摄像头前完成八段锦，系统读取身体关键点，按当前动作的判定条件产生反馈——弦位亮起，并发出琴音。&#10;            &lt;/Text&gt;&#10;            &lt;Box style={{ flex: 1, justifyContent: 'center', background: '#F2E7D2', borderRadius: 6, padding: 18, borderLeft: '3px solid #6E8F7C' }}&gt;&#10;                &lt;Text style={{ fontSize: 17, color: '#4E5B4F', fontFamily: '&quot;PingFang SC&quot;, sans-serif', lineHeight: 1.66 }}&gt;&#10;                    一次动作命中表示「达到本原型的判定条件」，不是全面的动作标准认证，更不是身体健康结论。&#10;                &lt;/Text&gt;&#10;            &lt;/Box&gt;&#10;        &lt;/Box&gt;&#10;    &lt;/Box&gt;&#10;    &lt;Box style={{ height: 32, flexDirection: 'row', justifyContent: 'space-between', alignItems: 'flex-end' }}&gt;&#10;        &lt;Text style={{ fontSize: 14, color: '#A9977B', fontFamily: '&quot;PingFang SC&quot;, sans-serif' }}&gt;弦养 · 以身为琴，以动为弦&lt;/Text&gt;&#10;        &lt;Text style={{ fontSize: 14, color: '#A9977B', fontFamily: '&quot;PingFang SC&quot;, sans-serif' }}&gt;05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3E3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核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心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功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能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一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44577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41C14"/>
                </a:solidFill>
                <a:latin typeface="Songti SC"/>
                <a:ea typeface="Songti SC"/>
              </a:rPr>
              <a:t>静听与跟练：让身体参与声音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11087100" y="190500"/>
            <a:ext cx="419100" cy="4191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201400" y="285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85800" y="1047750"/>
            <a:ext cx="10820400" cy="9525"/>
          </a:xfrm>
          <a:prstGeom prst="rect">
            <a:avLst/>
          </a:prstGeom>
          <a:solidFill>
            <a:srgbClr val="E3D6BC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7429500" y="1266825"/>
            <a:ext cx="4076700" cy="1962150"/>
          </a:xfrm>
          <a:prstGeom prst="roundRect">
            <a:avLst>
              <a:gd name="adj" fmla="val 3883"/>
            </a:avLst>
          </a:prstGeom>
          <a:ln/>
          <a:effectLst>
            <a:outerShdw blurRad="323850" dist="114300" dir="5400000">
              <a:srgbClr val="3C281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42" name=""/>
          <p:cNvPicPr>
            <a:picLocks noChangeAspect="1"/>
          </p:cNvPicPr>
          <p:nvPr/>
        </p:nvPicPr>
        <p:blipFill>
          <a:blip r:embed="rId1"/>
          <a:srcRect l="0" t="11171" r="0" b="11171"/>
          <a:stretch>
            <a:fillRect/>
          </a:stretch>
        </p:blipFill>
        <p:spPr>
          <a:xfrm rot="0" flipH="0" flipV="0">
            <a:off x="7429500" y="1266825"/>
            <a:ext cx="4076700" cy="1962150"/>
          </a:xfrm>
          <a:custGeom>
            <a:pathLst>
              <a:path w="428" h="206">
                <a:moveTo>
                  <a:pt x="420" y="0"/>
                </a:moveTo>
                <a:cubicBezTo>
                  <a:pt x="425" y="0"/>
                  <a:pt x="428" y="4"/>
                  <a:pt x="428" y="8"/>
                </a:cubicBezTo>
                <a:lnTo>
                  <a:pt x="428" y="198"/>
                </a:lnTo>
                <a:cubicBezTo>
                  <a:pt x="428" y="202"/>
                  <a:pt x="424" y="206"/>
                  <a:pt x="420" y="206"/>
                </a:cubicBezTo>
                <a:lnTo>
                  <a:pt x="8" y="206"/>
                </a:lnTo>
                <a:cubicBezTo>
                  <a:pt x="4" y="206"/>
                  <a:pt x="0" y="202"/>
                  <a:pt x="0" y="19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lnTo>
                  <a:pt x="420" y="0"/>
                </a:lnTo>
                <a:close/>
              </a:path>
            </a:pathLst>
          </a:custGeom>
          <a:ln/>
        </p:spPr>
      </p:pic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429500" y="338137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41C14"/>
                </a:solidFill>
                <a:latin typeface="Songti SC"/>
                <a:ea typeface="Songti SC"/>
              </a:rPr>
              <a:t>跟练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8039100" y="3533775"/>
            <a:ext cx="323850" cy="9525"/>
          </a:xfrm>
          <a:prstGeom prst="rect">
            <a:avLst/>
          </a:prstGeom>
          <a:solidFill>
            <a:srgbClr val="B0552E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477250" y="34385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0552E"/>
                </a:solidFill>
                <a:latin typeface="PingFang SC"/>
                <a:ea typeface="PingFang SC"/>
              </a:rPr>
              <a:t>身体参与声音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429500" y="3819525"/>
            <a:ext cx="4076700" cy="1038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350">
                <a:solidFill>
                  <a:srgbClr val="5C4E3C"/>
                </a:solidFill>
                <a:latin typeface="PingFang SC"/>
                <a:ea typeface="PingFang SC"/>
              </a:rPr>
              <a:t>在摄像头前完成八段锦，系统读取身体关键点，按当前动作的判定条件产生反馈——弦位亮起，并发出琴音。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458075" y="4991100"/>
            <a:ext cx="4076700" cy="1228725"/>
          </a:xfrm>
          <a:prstGeom prst="roundRect">
            <a:avLst>
              <a:gd name="adj" fmla="val 4651"/>
            </a:avLst>
          </a:prstGeom>
          <a:solidFill>
            <a:srgbClr val="F2E7D2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7458075" y="4991100"/>
            <a:ext cx="4076700" cy="1228725"/>
          </a:xfrm>
          <a:custGeom>
            <a:pathLst>
              <a:path w="428" h="129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26"/>
                </a:lnTo>
                <a:cubicBezTo>
                  <a:pt x="3" y="127"/>
                  <a:pt x="4" y="129"/>
                  <a:pt x="5" y="129"/>
                </a:cubicBezTo>
                <a:cubicBezTo>
                  <a:pt x="2" y="129"/>
                  <a:pt x="0" y="126"/>
                  <a:pt x="0" y="12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6E8F7C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629525" y="5286375"/>
            <a:ext cx="37052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zh-CN" sz="1275">
                <a:solidFill>
                  <a:srgbClr val="4E5B4F"/>
                </a:solidFill>
                <a:latin typeface="PingFang SC"/>
                <a:ea typeface="PingFang SC"/>
              </a:rPr>
              <a:t>一次动作命中表示「达到本原型的判定条件」，不是全面的动作标准认证，更不是身体健康结论。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>05 / 12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85800" y="1266825"/>
            <a:ext cx="6477000" cy="4953000"/>
          </a:xfrm>
          <a:prstGeom prst="roundRect">
            <a:avLst>
              <a:gd name="adj" fmla="val 1538"/>
            </a:avLst>
          </a:prstGeom>
          <a:ln/>
          <a:effectLst>
            <a:outerShdw blurRad="323850" dist="114300" dir="5400000">
              <a:srgbClr val="3C281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53" name=""/>
          <p:cNvPicPr>
            <a:picLocks noChangeAspect="1"/>
          </p:cNvPicPr>
          <p:nvPr/>
        </p:nvPicPr>
        <p:blipFill>
          <a:blip r:embed="rId2"/>
          <a:srcRect l="9475" t="0" r="9475" b="0"/>
          <a:stretch>
            <a:fillRect/>
          </a:stretch>
        </p:blipFill>
        <p:spPr>
          <a:xfrm rot="0" flipH="0" flipV="0">
            <a:off x="685800" y="1266825"/>
            <a:ext cx="6477000" cy="4953000"/>
          </a:xfrm>
          <a:custGeom>
            <a:pathLst>
              <a:path w="680" h="520">
                <a:moveTo>
                  <a:pt x="672" y="0"/>
                </a:moveTo>
                <a:cubicBezTo>
                  <a:pt x="677" y="0"/>
                  <a:pt x="680" y="4"/>
                  <a:pt x="680" y="8"/>
                </a:cubicBezTo>
                <a:lnTo>
                  <a:pt x="680" y="512"/>
                </a:lnTo>
                <a:cubicBezTo>
                  <a:pt x="680" y="516"/>
                  <a:pt x="676" y="520"/>
                  <a:pt x="672" y="520"/>
                </a:cubicBezTo>
                <a:lnTo>
                  <a:pt x="8" y="520"/>
                </a:lnTo>
                <a:cubicBezTo>
                  <a:pt x="4" y="520"/>
                  <a:pt x="0" y="516"/>
                  <a:pt x="0" y="512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lnTo>
                  <a:pt x="672" y="0"/>
                </a:lnTo>
                <a:close/>
              </a:path>
            </a:pathLst>
          </a:custGeom>
          <a:ln/>
        </p:spPr>
      </p:pic>
      <p:sp>
        <p:nvSpPr>
          <p:cNvPr id="254" name=""/>
          <p:cNvSpPr/>
          <p:nvPr/>
        </p:nvSpPr>
        <p:spPr>
          <a:xfrm rot="0" flipH="0" flipV="0">
            <a:off x="685800" y="3667125"/>
            <a:ext cx="6477000" cy="2552700"/>
          </a:xfrm>
          <a:custGeom>
            <a:pathLst>
              <a:path w="680" h="268">
                <a:moveTo>
                  <a:pt x="680" y="260"/>
                </a:moveTo>
                <a:cubicBezTo>
                  <a:pt x="680" y="264"/>
                  <a:pt x="676" y="268"/>
                  <a:pt x="672" y="268"/>
                </a:cubicBezTo>
                <a:lnTo>
                  <a:pt x="8" y="268"/>
                </a:lnTo>
                <a:cubicBezTo>
                  <a:pt x="4" y="268"/>
                  <a:pt x="0" y="264"/>
                  <a:pt x="0" y="260"/>
                </a:cubicBezTo>
                <a:lnTo>
                  <a:pt x="0" y="0"/>
                </a:lnTo>
                <a:lnTo>
                  <a:pt x="680" y="0"/>
                </a:lnTo>
                <a:close/>
              </a:path>
            </a:pathLst>
          </a:custGeom>
          <a:gradFill>
            <a:gsLst>
              <a:gs pos="0">
                <a:srgbClr val="18110B">
                  <a:alpha val="94000"/>
                </a:srgbClr>
              </a:gs>
              <a:gs pos="46000">
                <a:srgbClr val="18110B">
                  <a:alpha val="62000"/>
                </a:srgbClr>
              </a:gs>
              <a:gs pos="100000">
                <a:srgbClr val="18110B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09650" y="4495800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BF3E3"/>
                </a:solidFill>
                <a:latin typeface="Songti SC"/>
                <a:ea typeface="Songti SC"/>
              </a:rPr>
              <a:t>静听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1619250" y="4648200"/>
            <a:ext cx="323850" cy="9525"/>
          </a:xfrm>
          <a:prstGeom prst="rect">
            <a:avLst/>
          </a:prstGeom>
          <a:solidFill>
            <a:srgbClr val="C9A97E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2057400" y="45529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A97E"/>
                </a:solidFill>
                <a:latin typeface="PingFang SC"/>
                <a:ea typeface="PingFang SC"/>
              </a:rPr>
              <a:t>进入五音氛围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09650" y="4895850"/>
            <a:ext cx="5829300" cy="1038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350">
                <a:solidFill>
                  <a:srgbClr val="E4D9C0"/>
                </a:solidFill>
                <a:latin typeface="PingFang SC"/>
                <a:ea typeface="PingFang SC"/>
              </a:rPr>
              <a:t>不必启动摄像头，也能进入音疗：以「今天想照顾哪里」「今天想要什么氛围」选择声音内容。五脏组织入口，五音组织氛围，古琴短句与已授权录音构成声音素材。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259" name="" descr="&lt;Slide style={{ width: 1280, height: 720, background: 'linear-gradient(160deg,#241C14 0%,#15100B 100%)', padding: '20px 72px', flexDirection: 'column' }}&gt;&#10;    &lt;Box style={{ height: 78, flexDirection: 'row', justifyContent: 'space-between', alignItems: 'flex-start' }}&gt;&#10;        &lt;Box style={{ flexDirection: 'column', gap: 6 }}&gt;&#10;            &lt;Text style={{ fontSize: 15, letterSpacing: 3, color: '#C9A97E', fontFamily: '&quot;PingFang SC&quot;, sans-serif' }}&gt;核 心 功 能 二 · 进 阶&lt;/Text&gt;&#10;            &lt;Text style={{ fontSize: 36, fontWeight: 'bold', color: '#FBF3E3', fontFamily: '&quot;Songti SC&quot;,&quot;STSong&quot;,serif' }}&gt;从单声回应，到一段沉浸&lt;/Text&gt;&#10;        &lt;/Box&gt;&#10;        &lt;Box style={{ width: 44, height: 44, borderRadius: 4, background: 'linear-gradient(135deg,#C2543C 0%,#8F3F1F 100%)', justifyContent: 'center', alignItems: 'center' }}&gt;&#10;            &lt;Text style={{ fontSize: 20, color: '#FBEFD8', fontFamily: '&quot;Songti SC&quot;,serif', fontWeight: 'bold' }}&gt;弦&lt;/Text&gt;&#10;        &lt;/Box&gt;&#10;    &lt;/Box&gt;&#10;    &lt;Box style={{ height: 1, background: 'rgba(201,169,126,0.28)', marginTop: 6 }} /&gt;&#10;    &lt;Animation animType=&quot;zoom&quot; duration={700}&gt;&#10;        &lt;Box style={{ position: 'relative', width: 1136, height: 286, marginTop: 12 }}&gt;&#10;            &lt;svg width='1136' height='286' viewBox='0 0 1136 286'&gt;&#10;                &lt;defs&gt;&#10;                    &lt;linearGradient id='tl' x1='0' y1='0' x2='1' y2='0'&gt;&#10;                        &lt;stop offset='0%' stopColor='#C9A97E' stopOpacity='0.15' /&gt;&#10;                        &lt;stop offset='50%' stopColor='#C9A97E' stopOpacity='0.55' /&gt;&#10;                        &lt;stop offset='100%' stopColor='#E9B85F' stopOpacity='0.95' /&gt;&#10;                    &lt;/linearGradient&gt;&#10;                &lt;/defs&gt;&#10;                &lt;line x1='200' y1='196' x2='936' y2='196' stroke='url(#tl)' strokeWidth='2' /&gt;&#10;                &lt;circle cx='200' cy='196' r='30' fill='#C9A97E' opacity='0.14' /&gt;&#10;                &lt;circle cx='200' cy='196' r='11' fill='#E9B85F' /&gt;&#10;                &lt;path d='M470 196 q 24 -48 48 0 q 24 48 48 0 q 24 -48 48 0 q 24 48 48 0' fill='none' stroke='#E9B85F' strokeWidth='3.5' strokeLinecap='round' /&gt;&#10;                &lt;circle cx='936' cy='196' r='16' fill='none' stroke='#E9B85F' strokeWidth='2.5' /&gt;&#10;                &lt;circle cx='936' cy='196' r='36' fill='none' stroke='#C9A97E' strokeWidth='2' opacity='0.6' /&gt;&#10;                &lt;circle cx='936' cy='196' r='56' fill='none' stroke='#C9A97E' strokeWidth='1.6' opacity='0.35' /&gt;&#10;                &lt;circle cx='936' cy='196' r='76' fill='none' stroke='#C9A97E' strokeWidth='1.3' opacity='0.2' /&gt;&#10;            &lt;/svg&gt;&#10;            &lt;Box style={{ position: 'absolute', top: 32, left: 100, width: 200, justifyContent: 'center', alignItems: 'center' }}&gt;&#10;                &lt;Text style={{ fontSize: 76, fontWeight: 'bold', color: '#E9B85F', fontFamily: '&quot;Songti SC&quot;,serif', lineHeight: 1.0 }}&gt;点&lt;/Text&gt;&#10;            &lt;/Box&gt;&#10;            &lt;Box style={{ position: 'absolute', top: 32, left: 468, width: 200, justifyContent: 'center', alignItems: 'center' }}&gt;&#10;                &lt;Text style={{ fontSize: 76, fontWeight: 'bold', color: '#E9B85F', fontFamily: '&quot;Songti SC&quot;,serif', lineHeight: 1.0 }}&gt;线&lt;/Text&gt;&#10;            &lt;/Box&gt;&#10;            &lt;Box style={{ position: 'absolute', top: 32, left: 836, width: 200, justifyContent: 'center', alignItems: 'center' }}&gt;&#10;                &lt;Text style={{ fontSize: 76, fontWeight: 'bold', color: '#E9B85F', fontFamily: '&quot;Songti SC&quot;,serif', lineHeight: 1.0 }}&gt;面&lt;/Text&gt;&#10;            &lt;/Box&gt;&#10;        &lt;/Box&gt;&#10;    &lt;/Animation&gt;&#10;    &lt;Animation animType=&quot;fadeIn&quot; startType=&quot;afterPrevious&quot; duration={600}&gt;&#10;        &lt;Box style={{ flexDirection: 'row', height: 172, marginTop: 12 }}&gt;&#10;            &lt;Box style={{ flex: 1, flexDirection: 'column', gap: 10, paddingRight: 30 }}&gt;&#10;                &lt;Text style={{ fontSize: 21, fontWeight: 'bold', color: '#FBF3E3', fontFamily: '&quot;PingFang SC&quot;, sans-serif' }}&gt;学架子 · 点&lt;/Text&gt;&#10;                &lt;Text style={{ fontSize: 17, color: '#C9A97E', fontFamily: '&quot;PingFang SC&quot;, sans-serif' }}&gt;离散弦音，一次触发一声&lt;/Text&gt;&#10;                &lt;Text style={{ fontSize: 16, color: '#A2937A', fontFamily: '&quot;PingFang SC&quot;, sans-serif', lineHeight: 1.6 }}&gt;先感知身体与声音的联系；有独立交互预览，按键触发不冒充真人识别。&lt;/Text&gt;&#10;            &lt;/Box&gt;&#10;            &lt;Box style={{ width: 1, background: 'rgba(201,169,126,0.25)' }} /&gt;&#10;            &lt;Box style={{ flex: 1, flexDirection: 'column', gap: 10, paddingLeft: 30, paddingRight: 30 }}&gt;&#10;                &lt;Text style={{ fontSize: 21, fontWeight: 'bold', color: '#FBF3E3', fontFamily: '&quot;PingFang SC&quot;, sans-serif' }}&gt;找气感 · 线&lt;/Text&gt;&#10;                &lt;Text style={{ fontSize: 17, color: '#C9A97E', fontFamily: '&quot;PingFang SC&quot;, sans-serif' }}&gt;可循环五声短句与句尾留白&lt;/Text&gt;&#10;                &lt;Text style={{ fontSize: 16, color: '#A2937A', fontFamily: '&quot;PingFang SC&quot;, sans-serif', lineHeight: 1.6 }}&gt;建立连续的动作与声音体验；有短句工坊，动作周期推进待接线。&lt;/Text&gt;&#10;            &lt;/Box&gt;&#10;            &lt;Box style={{ width: 1, background: 'rgba(201,169,126,0.25)' }} /&gt;&#10;            &lt;Box style={{ flex: 1, flexDirection: 'column', gap: 10, paddingLeft: 30 }}&gt;&#10;                &lt;Text style={{ fontSize: 21, fontWeight: 'bold', color: '#FBF3E3', fontFamily: '&quot;PingFang SC&quot;, sans-serif' }}&gt;入静 · 面&lt;/Text&gt;&#10;                &lt;Text style={{ fontSize: 17, color: '#C9A97E', fontFamily: '&quot;PingFang SC&quot;, sans-serif' }}&gt;连续音乐弧线与单音点缀&lt;/Text&gt;&#10;                &lt;Text style={{ fontSize: 16, color: '#A2937A', fontFamily: '&quot;PingFang SC&quot;, sans-serif', lineHeight: 1.6 }}&gt;支撑完整的沉浸练习；有五调弧线原型，自适应收束待实现。&lt;/Text&gt;&#10;            &lt;/Box&gt;&#10;        &lt;/Box&gt;&#10;    &lt;/Animation&gt;&#10;    &lt;Box style={{ flex: 1, justifyContent: 'center' }}&gt;&#10;        &lt;Text style={{ fontSize: 15, color: '#8E8069', fontFamily: '&quot;PingFang SC&quot;, sans-serif', lineHeight: 1.5 }}&gt;&#10;            音乐跟随动作周期，是后续增强方向，不是已验证的呼吸检测功能——摄像头姿态事件不能直接等同于真实呼吸信号。&#10;        &lt;/Text&gt;&#10;    &lt;/Box&gt;&#10;    &lt;Box style={{ height: 30, flexDirection: 'row', justifyContent: 'space-between', alignItems: 'flex-end' }}&gt;&#10;        &lt;Text style={{ fontSize: 14, color: 'rgba(201,169,126,0.6)', fontFamily: '&quot;PingFang SC&quot;, sans-serif' }}&gt;弦养 · 以身为琴，以动为弦&lt;/Text&gt;&#10;        &lt;Text style={{ fontSize: 14, color: 'rgba(201,169,126,0.6)', fontFamily: '&quot;PingFang SC&quot;, sans-serif' }}&gt;06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41C14"/>
              </a:gs>
              <a:gs pos="100000">
                <a:srgbClr val="15100B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C9A97E"/>
                </a:solidFill>
                <a:latin typeface="PingFang SC"/>
                <a:ea typeface="PingFang SC"/>
              </a:rPr>
              <a:t>核</a:t>
            </a:r>
            <a:r>
              <a:rPr lang="en-US" sz="1125" spc="225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C9A97E"/>
                </a:solidFill>
                <a:latin typeface="PingFang SC"/>
                <a:ea typeface="PingFang SC"/>
              </a:rPr>
              <a:t>心</a:t>
            </a:r>
            <a:r>
              <a:rPr lang="en-US" sz="1125" spc="225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C9A97E"/>
                </a:solidFill>
                <a:latin typeface="PingFang SC"/>
                <a:ea typeface="PingFang SC"/>
              </a:rPr>
              <a:t>功</a:t>
            </a:r>
            <a:r>
              <a:rPr lang="en-US" sz="1125" spc="225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C9A97E"/>
                </a:solidFill>
                <a:latin typeface="PingFang SC"/>
                <a:ea typeface="PingFang SC"/>
              </a:rPr>
              <a:t>能</a:t>
            </a:r>
            <a:r>
              <a:rPr lang="en-US" sz="1125" spc="225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C9A97E"/>
                </a:solidFill>
                <a:latin typeface="PingFang SC"/>
                <a:ea typeface="PingFang SC"/>
              </a:rPr>
              <a:t>二</a:t>
            </a:r>
            <a:r>
              <a:rPr lang="en-US" sz="1125" spc="225">
                <a:solidFill>
                  <a:srgbClr val="C9A97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 spc="225">
                <a:solidFill>
                  <a:srgbClr val="C9A97E"/>
                </a:solidFill>
                <a:latin typeface="PingFang SC"/>
                <a:ea typeface="PingFang SC"/>
              </a:rPr>
              <a:t>进</a:t>
            </a:r>
            <a:r>
              <a:rPr lang="en-US" sz="1125" spc="225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C9A97E"/>
                </a:solidFill>
                <a:latin typeface="PingFang SC"/>
                <a:ea typeface="PingFang SC"/>
              </a:rPr>
              <a:t>阶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3771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BF3E3"/>
                </a:solidFill>
                <a:latin typeface="Songti SC"/>
                <a:ea typeface="Songti SC"/>
              </a:rPr>
              <a:t>从单声回应，到一段沉浸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11087100" y="190500"/>
            <a:ext cx="419100" cy="4191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201400" y="285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85800" y="990600"/>
            <a:ext cx="10820400" cy="9525"/>
          </a:xfrm>
          <a:prstGeom prst="rect">
            <a:avLst/>
          </a:prstGeom>
          <a:solidFill>
            <a:srgbClr val="C9A97E">
              <a:alpha val="28000"/>
            </a:srgbClr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85800" y="39528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BF3E3"/>
                </a:solidFill>
                <a:latin typeface="PingFang SC"/>
                <a:ea typeface="PingFang SC"/>
              </a:rPr>
              <a:t>学架子</a:t>
            </a:r>
            <a:r>
              <a:rPr lang="en-US" sz="1575" b="1">
                <a:solidFill>
                  <a:srgbClr val="FBF3E3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575" b="1">
                <a:solidFill>
                  <a:srgbClr val="FBF3E3"/>
                </a:solidFill>
                <a:latin typeface="PingFang SC"/>
                <a:ea typeface="PingFang SC"/>
              </a:rPr>
              <a:t>点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85800" y="429577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A97E"/>
                </a:solidFill>
                <a:latin typeface="PingFang SC"/>
                <a:ea typeface="PingFang SC"/>
              </a:rPr>
              <a:t>离散弦音，一次触发一声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85800" y="4591050"/>
            <a:ext cx="3314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2937A"/>
                </a:solidFill>
                <a:latin typeface="PingFang SC"/>
                <a:ea typeface="PingFang SC"/>
              </a:rPr>
              <a:t>先感知身体与声音的联系；有独立交互预览，按键触发不冒充真人识别。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4286250" y="3952875"/>
            <a:ext cx="9525" cy="1638300"/>
          </a:xfrm>
          <a:prstGeom prst="rect">
            <a:avLst/>
          </a:prstGeom>
          <a:solidFill>
            <a:srgbClr val="C9A97E">
              <a:alpha val="25000"/>
            </a:srgbClr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581525" y="3952875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BF3E3"/>
                </a:solidFill>
                <a:latin typeface="PingFang SC"/>
                <a:ea typeface="PingFang SC"/>
              </a:rPr>
              <a:t>找气感</a:t>
            </a:r>
            <a:r>
              <a:rPr lang="en-US" sz="1575" b="1">
                <a:solidFill>
                  <a:srgbClr val="FBF3E3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575" b="1">
                <a:solidFill>
                  <a:srgbClr val="FBF3E3"/>
                </a:solidFill>
                <a:latin typeface="PingFang SC"/>
                <a:ea typeface="PingFang SC"/>
              </a:rPr>
              <a:t>线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581525" y="4295775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A97E"/>
                </a:solidFill>
                <a:latin typeface="PingFang SC"/>
                <a:ea typeface="PingFang SC"/>
              </a:rPr>
              <a:t>可循环五声短句与句尾留白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581525" y="4591050"/>
            <a:ext cx="30289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2937A"/>
                </a:solidFill>
                <a:latin typeface="PingFang SC"/>
                <a:ea typeface="PingFang SC"/>
              </a:rPr>
              <a:t>建立连续的动作与声音体验；有短句工坊，动作周期推进待接线。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7896225" y="3952875"/>
            <a:ext cx="9525" cy="1638300"/>
          </a:xfrm>
          <a:prstGeom prst="rect">
            <a:avLst/>
          </a:prstGeom>
          <a:solidFill>
            <a:srgbClr val="C9A97E">
              <a:alpha val="25000"/>
            </a:srgbClr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191500" y="39528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BF3E3"/>
                </a:solidFill>
                <a:latin typeface="PingFang SC"/>
                <a:ea typeface="PingFang SC"/>
              </a:rPr>
              <a:t>入静</a:t>
            </a:r>
            <a:r>
              <a:rPr lang="en-US" sz="1575" b="1">
                <a:solidFill>
                  <a:srgbClr val="FBF3E3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575" b="1">
                <a:solidFill>
                  <a:srgbClr val="FBF3E3"/>
                </a:solidFill>
                <a:latin typeface="PingFang SC"/>
                <a:ea typeface="PingFang SC"/>
              </a:rPr>
              <a:t>面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191500" y="429577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A97E"/>
                </a:solidFill>
                <a:latin typeface="PingFang SC"/>
                <a:ea typeface="PingFang SC"/>
              </a:rPr>
              <a:t>连续音乐弧线与单音点缀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191500" y="4591050"/>
            <a:ext cx="3314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2937A"/>
                </a:solidFill>
                <a:latin typeface="PingFang SC"/>
                <a:ea typeface="PingFang SC"/>
              </a:rPr>
              <a:t>支撑完整的沉浸练习；有五调弧线原型，自适应收束待实现。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5800" y="5857875"/>
            <a:ext cx="10820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E8069"/>
                </a:solidFill>
                <a:latin typeface="PingFang SC"/>
                <a:ea typeface="PingFang SC"/>
              </a:rPr>
              <a:t>音乐跟随动作周期，是后续增强方向，不是已验证的呼吸检测功能——摄像头姿态事件不能直接等同于真实呼吸信号。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A97E">
                    <a:alpha val="60000"/>
                  </a:srgbClr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C9A97E">
                    <a:alpha val="60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C9A97E">
                    <a:alpha val="60000"/>
                  </a:srgbClr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0490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9A97E">
                    <a:alpha val="60000"/>
                  </a:srgbClr>
                </a:solidFill>
                <a:latin typeface="PingFang SC"/>
                <a:ea typeface="PingFang SC"/>
              </a:rPr>
              <a:t>06 / 12</a:t>
            </a:r>
            <a:endParaRPr/>
          </a:p>
        </p:txBody>
      </p:sp>
      <p:pic>
        <p:nvPicPr>
          <p:cNvPr id="280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14425"/>
            <a:ext cx="10820400" cy="2724150"/>
          </a:xfrm>
          <a:prstGeom prst="rect">
            <a:avLst/>
          </a:prstGeom>
          <a:ln/>
        </p:spPr>
      </p:pic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2228850" y="1419225"/>
            <a:ext cx="7239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700" b="1">
                <a:solidFill>
                  <a:srgbClr val="E9B85F"/>
                </a:solidFill>
                <a:latin typeface="Songti SC"/>
                <a:ea typeface="Songti SC"/>
              </a:rPr>
              <a:t>点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5734050" y="1419225"/>
            <a:ext cx="7239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700" b="1">
                <a:solidFill>
                  <a:srgbClr val="E9B85F"/>
                </a:solidFill>
                <a:latin typeface="Songti SC"/>
                <a:ea typeface="Songti SC"/>
              </a:rPr>
              <a:t>线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239250" y="1419225"/>
            <a:ext cx="7239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700" b="1">
                <a:solidFill>
                  <a:srgbClr val="E9B85F"/>
                </a:solidFill>
                <a:latin typeface="Songti SC"/>
                <a:ea typeface="Songti SC"/>
              </a:rPr>
              <a:t>面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7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7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7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84" name="" descr="&lt;Slide style={{ width: 1280, height: 720, background: '#FBF3E3', padding: '20px 72px', flexDirection: 'column' }}&gt;&#10;    &lt;Box style={{ height: 78, flexDirection: 'row', justifyContent: 'space-between', alignItems: 'flex-start' }}&gt;&#10;        &lt;Box style={{ flexDirection: 'column', gap: 6 }}&gt;&#10;            &lt;Text style={{ fontSize: 15, letterSpacing: 3, color: '#B0552E', fontFamily: '&quot;PingFang SC&quot;, sans-serif' }}&gt;声 音 设 计&lt;/Text&gt;&#10;            &lt;Text style={{ fontSize: 36, fontWeight: 'bold', color: '#241C14', fontFamily: '&quot;Songti SC&quot;,&quot;STSong&quot;,serif' }}&gt;三种听感，皆有来源&lt;/Text&gt;&#10;        &lt;/Box&gt;&#10;        &lt;Box style={{ width: 44, height: 44, borderRadius: 4, background: 'linear-gradient(135deg,#C2543C 0%,#8F3F1F 100%)', justifyContent: 'center', alignItems: 'center' }}&gt;&#10;            &lt;Text style={{ fontSize: 20, color: '#FBEFD8', fontFamily: '&quot;Songti SC&quot;,serif', fontWeight: 'bold' }}&gt;弦&lt;/Text&gt;&#10;        &lt;/Box&gt;&#10;    &lt;/Box&gt;&#10;    &lt;Box style={{ height: 1, background: '#E3D6BC', marginTop: 6 }} /&gt;&#10;    &lt;Box style={{ flexDirection: 'row', gap: 30, marginTop: 20, height: 530 }}&gt;&#10;        &lt;Animation animType=&quot;fadeIn&quot; duration={600}&gt;&#10;            &lt;Box style={{ width: 340, height: 530, background: '#F2E7D2', borderRadius: 8, padding: 28, flexDirection: 'column', justifyContent: 'space-between', boxShadow: '0 10px 28px rgba(60,40,20,0.10)' }}&gt;&#10;                &lt;Box style={{ flexDirection: 'column', gap: 14 }}&gt;&#10;                    &lt;Text style={{ fontSize: 24, fontWeight: 'bold', color: '#241C14', fontFamily: '&quot;Songti SC&quot;,serif', lineHeight: 1.35 }}&gt;不是采样回放，也非「古风」混响&lt;/Text&gt;&#10;                    &lt;Text style={{ fontSize: 17, color: '#5C4E3C', fontFamily: '&quot;PingFang SC&quot;, sans-serif', lineHeight: 1.72 }}&gt;&#10;                        弦养的古琴音色由物理发声模型合成：一至七弦用同一条算法、同一组定弦，所以高音弦与低音弦之间不会有「换了件乐器」的断层。&#10;                    &lt;/Text&gt;&#10;                &lt;/Box&gt;&#10;                &lt;Box style={{ flexDirection: 'column', gap: 10, borderTop: '2px solid #C9A97E', paddingTop: 18 }}&gt;&#10;                    &lt;Text style={{ fontSize: 14, letterSpacing: 2, color: '#B08A3E', fontFamily: '&quot;PingFang SC&quot;, sans-serif' }}&gt;落 点&lt;/Text&gt;&#10;                    &lt;Text style={{ fontSize: 18, color: '#8F3F1F', fontFamily: '&quot;PingFang SC&quot;, sans-serif', lineHeight: 1.68, fontWeight: 'bold' }}&gt;&#10;                        「宫」被编号与音名拉扯了几百年；在这里，它最终落回一个可以精确测量的频率。&#10;                    &lt;/Text&gt;&#10;                &lt;/Box&gt;&#10;            &lt;/Box&gt;&#10;        &lt;/Animation&gt;&#10;        &lt;Box style={{ flex: 1, flexDirection: 'column', gap: 16 }}&gt;&#10;            &lt;Animation animType=&quot;fadeIn&quot; startType=&quot;afterPrevious&quot; duration={600}&gt;&#10;                &lt;Box style={{ flexDirection: 'column' }}&gt;&#10;                    &lt;Box style={{ flexDirection: 'row', gap: 16 }}&gt;&#10;                        &lt;Box style={{ width: 3, background: '#C9A97E', borderRadius: 2 }} /&gt;&#10;                        &lt;Box style={{ flex: 1, flexDirection: 'column', gap: 6, paddingBottom: 14 }}&gt;&#10;                            &lt;Text style={{ fontSize: 21, fontWeight: 'bold', color: '#241C14', fontFamily: '&quot;PingFang SC&quot;, sans-serif' }}&gt;绵长&lt;/Text&gt;&#10;                            &lt;Text style={{ fontSize: 16, color: '#5C4E3C', fontFamily: '&quot;PingFang SC&quot;, sans-serif', lineHeight: 1.62 }}&gt;低音层里有一路与一弦同音（宫，F3）的持续音，它不衰减——弦音落下去之后由它接住，听起来就是「这声不落」。&lt;/Text&gt;&#10;                        &lt;/Box&gt;&#10;                    &lt;/Box&gt;&#10;                    &lt;Box style={{ height: 1, background: '#EBDFC7' }} /&gt;&#10;                    &lt;Box style={{ flexDirection: 'row', gap: 16, marginTop: 14 }}&gt;&#10;                        &lt;Box style={{ width: 3, background: '#6E8F7C', borderRadius: 2 }} /&gt;&#10;                        &lt;Box style={{ flex: 1, flexDirection: 'column', gap: 6, paddingBottom: 14 }}&gt;&#10;                            &lt;Text style={{ fontSize: 21, fontWeight: 'bold', color: '#241C14', fontFamily: '&quot;PingFang SC&quot;, sans-serif' }}&gt;饱满&lt;/Text&gt;&#10;                            &lt;Text style={{ fontSize: 16, color: '#5C4E3C', fontFamily: '&quot;PingFang SC&quot;, sans-serif', lineHeight: 1.62 }}&gt;底下再垫一层宫的低八度（F2），补的是低音厚度，让声音站得住。&lt;/Text&gt;&#10;                        &lt;/Box&gt;&#10;                    &lt;/Box&gt;&#10;                    &lt;Box style={{ height: 1, background: '#EBDFC7' }} /&gt;&#10;                    &lt;Box style={{ flexDirection: 'row', gap: 16, marginTop: 14 }}&gt;&#10;                        &lt;Box style={{ width: 3, background: '#B0552E', borderRadius: 2 }} /&gt;&#10;                        &lt;Box style={{ flex: 1, flexDirection: 'column', gap: 6 }}&gt;&#10;                            &lt;Text style={{ fontSize: 21, fontWeight: 'bold', color: '#241C14', fontFamily: '&quot;PingFang SC&quot;, sans-serif' }}&gt;颤音&lt;/Text&gt;&#10;                            &lt;Text style={{ fontSize: 16, color: '#5C4E3C', fontFamily: '&quot;PingFang SC&quot;, sans-serif', lineHeight: 1.62 }}&gt;它其实不是「颤音效果」：合成弦音的延迟线必须取整数个采样点，实发频率与理论频率差了一点点，与低音层纯正弦互相打拍子。&lt;/Text&gt;&#10;                        &lt;/Box&gt;&#10;                    &lt;/Box&gt;&#10;                &lt;/Box&gt;&#10;            &lt;/Animation&gt;&#10;            &lt;Animation animType=&quot;fadeIn&quot; startType=&quot;afterPrevious&quot; duration={600}&gt;&#10;                &lt;Box style={{ background: '#1E1710', borderRadius: 8, padding: '16px 22px', flexDirection: 'column', gap: 6 }}&gt;&#10;                    &lt;Text style={{ fontSize: 15, color: '#8A7A5E', fontFamily: '&quot;PingFang SC&quot;, sans-serif', letterSpacing: 1 }}&gt;那点「颤音」的算法来源&lt;/Text&gt;&#10;                    &lt;Text style={{ fontSize: 16, color: '#E9B85F', fontFamily: '&quot;SF Mono&quot;,&quot;Menlo&quot;,monospace', lineHeight: 1.7 }}&gt;48 kHz ÷ 174.614 Hz = 274.90  →  延迟线取整 275&lt;/Text&gt;&#10;                    &lt;Text style={{ fontSize: 16, color: '#C9A97E', fontFamily: '&quot;SF Mono&quot;,&quot;Menlo&quot;,monospace', lineHeight: 1.7 }}&gt;实发频率 ≈ 48000 ÷ 275.5 ≈ 174.23 Hz　|　低音层纯正弦 = 174.614 Hz&lt;/Text&gt;&#10;                    &lt;Text style={{ fontSize: 16, color: '#FBF3E3', fontFamily: '&quot;SF Mono&quot;,&quot;Menlo&quot;,monospace', lineHeight: 1.7 }}&gt;相差 ≈ 0.385 Hz　→　每约 2.6 秒打一次拍&lt;/Text&gt;&#10;                &lt;/Box&gt;&#10;            &lt;/Animation&gt;&#10;        &lt;/Box&gt;&#10;    &lt;/Box&gt;&#10;    &lt;Box style={{ height: 30, flexDirection: 'row', justifyContent: 'space-between', alignItems: 'flex-end' }}&gt;&#10;        &lt;Text style={{ fontSize: 14, color: '#A9977B', fontFamily: '&quot;PingFang SC&quot;, sans-serif' }}&gt;弦养 · 以身为琴，以动为弦&lt;/Text&gt;&#10;        &lt;Text style={{ fontSize: 14, color: '#A9977B', fontFamily: '&quot;PingFang SC&quot;, sans-serif' }}&gt;07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3E3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声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音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设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计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41C14"/>
                </a:solidFill>
                <a:latin typeface="Songti SC"/>
                <a:ea typeface="Songti SC"/>
              </a:rPr>
              <a:t>三种听感，皆有来源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11087100" y="190500"/>
            <a:ext cx="419100" cy="4191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201400" y="285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85800" y="990600"/>
            <a:ext cx="10820400" cy="9525"/>
          </a:xfrm>
          <a:prstGeom prst="rect">
            <a:avLst/>
          </a:prstGeom>
          <a:solidFill>
            <a:srgbClr val="E3D6BC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85800" y="1190625"/>
            <a:ext cx="3238500" cy="5048250"/>
          </a:xfrm>
          <a:prstGeom prst="roundRect">
            <a:avLst>
              <a:gd name="adj" fmla="val 2353"/>
            </a:avLst>
          </a:prstGeom>
          <a:solidFill>
            <a:srgbClr val="F2E7D2"/>
          </a:solidFill>
          <a:ln/>
          <a:effectLst>
            <a:outerShdw blurRad="266700" dist="95250" dir="5400000">
              <a:srgbClr val="3C2814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952500" y="1457325"/>
            <a:ext cx="27051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241C14"/>
                </a:solidFill>
                <a:latin typeface="Songti SC"/>
                <a:ea typeface="Songti SC"/>
              </a:rPr>
              <a:t>不是采样回放，也非「古风」混响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952500" y="2333625"/>
            <a:ext cx="2705100" cy="1343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zh-CN" sz="1275">
                <a:solidFill>
                  <a:srgbClr val="5C4E3C"/>
                </a:solidFill>
                <a:latin typeface="PingFang SC"/>
                <a:ea typeface="PingFang SC"/>
              </a:rPr>
              <a:t>弦养的古琴音色由物理发声模型合成：一至七弦用同一条算法、同一组定弦，所以高音弦与低音弦之间不会有「换了件乐器」的断层。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952500" y="4486275"/>
            <a:ext cx="2705100" cy="1504950"/>
          </a:xfrm>
          <a:custGeom>
            <a:pathLst>
              <a:path w="284" h="158">
                <a:moveTo>
                  <a:pt x="0" y="0"/>
                </a:moveTo>
                <a:lnTo>
                  <a:pt x="284" y="0"/>
                </a:lnTo>
                <a:lnTo>
                  <a:pt x="284" y="2"/>
                </a:lnTo>
                <a:lnTo>
                  <a:pt x="0" y="2"/>
                </a:lnTo>
                <a:close/>
              </a:path>
            </a:pathLst>
          </a:custGeom>
          <a:solidFill>
            <a:srgbClr val="C9A97E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52500" y="46767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B08A3E"/>
                </a:solidFill>
                <a:latin typeface="PingFang SC"/>
                <a:ea typeface="PingFang SC"/>
              </a:rPr>
              <a:t>落</a:t>
            </a:r>
            <a:r>
              <a:rPr lang="en-US" sz="1050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050" spc="150">
                <a:solidFill>
                  <a:srgbClr val="B08A3E"/>
                </a:solidFill>
                <a:latin typeface="PingFang SC"/>
                <a:ea typeface="PingFang SC"/>
              </a:rPr>
              <a:t>点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52500" y="4933950"/>
            <a:ext cx="2705100" cy="1038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350" b="1">
                <a:solidFill>
                  <a:srgbClr val="8F3F1F"/>
                </a:solidFill>
                <a:latin typeface="PingFang SC"/>
                <a:ea typeface="PingFang SC"/>
              </a:rPr>
              <a:t>「宫」被编号与音名拉扯了几百年；在这里，它最终落回一个可以精确测量的频率。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4210050" y="1190625"/>
            <a:ext cx="28575" cy="1038225"/>
          </a:xfrm>
          <a:prstGeom prst="roundRect">
            <a:avLst>
              <a:gd name="adj" fmla="val 66667"/>
            </a:avLst>
          </a:prstGeom>
          <a:solidFill>
            <a:srgbClr val="C9A97E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391025" y="1190625"/>
            <a:ext cx="7115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41C14"/>
                </a:solidFill>
                <a:latin typeface="PingFang SC"/>
                <a:ea typeface="PingFang SC"/>
              </a:rPr>
              <a:t>绵长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391025" y="1495425"/>
            <a:ext cx="71151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00">
                <a:solidFill>
                  <a:srgbClr val="5C4E3C"/>
                </a:solidFill>
                <a:latin typeface="PingFang SC"/>
                <a:ea typeface="PingFang SC"/>
              </a:rPr>
              <a:t>低音层里有一路与一弦同音（宫，</a:t>
            </a:r>
            <a:r>
              <a:rPr lang="en-US" sz="1200">
                <a:solidFill>
                  <a:srgbClr val="5C4E3C"/>
                </a:solidFill>
                <a:latin typeface="PingFang SC"/>
                <a:ea typeface="PingFang SC"/>
              </a:rPr>
              <a:t>F3</a:t>
            </a:r>
            <a:r>
              <a:rPr lang="zh-CN" sz="1200">
                <a:solidFill>
                  <a:srgbClr val="5C4E3C"/>
                </a:solidFill>
                <a:latin typeface="PingFang SC"/>
                <a:ea typeface="PingFang SC"/>
              </a:rPr>
              <a:t>）的持续音，它不衰减——弦音落下去之后由它接住，听起来就是「这声不落」。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4210050" y="2228850"/>
            <a:ext cx="7296150" cy="9525"/>
          </a:xfrm>
          <a:prstGeom prst="rect">
            <a:avLst/>
          </a:prstGeom>
          <a:solidFill>
            <a:srgbClr val="EBDFC7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4210050" y="2371725"/>
            <a:ext cx="28575" cy="742950"/>
          </a:xfrm>
          <a:prstGeom prst="roundRect">
            <a:avLst>
              <a:gd name="adj" fmla="val 66667"/>
            </a:avLst>
          </a:prstGeom>
          <a:solidFill>
            <a:srgbClr val="6E8F7C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391025" y="2371725"/>
            <a:ext cx="7115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41C14"/>
                </a:solidFill>
                <a:latin typeface="PingFang SC"/>
                <a:ea typeface="PingFang SC"/>
              </a:rPr>
              <a:t>饱满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391025" y="2676525"/>
            <a:ext cx="7115175" cy="304800"/>
          </a:xfrm>
          <a:prstGeom prst="rect"/>
        </p:spPr>
        <p:txBody>
          <a:bodyPr wrap="none" lIns="0" tIns="0" rIns="0" bIns="0"/>
          <a:p>
            <a:pPr>
              <a:lnSpc>
                <a:spcPct val="162000"/>
              </a:lnSpc>
            </a:pPr>
            <a:r>
              <a:rPr lang="zh-CN" sz="1200">
                <a:solidFill>
                  <a:srgbClr val="5C4E3C"/>
                </a:solidFill>
                <a:latin typeface="PingFang SC"/>
                <a:ea typeface="PingFang SC"/>
              </a:rPr>
              <a:t>底下再垫一层宫的低八度（</a:t>
            </a:r>
            <a:r>
              <a:rPr lang="en-US" sz="1200">
                <a:solidFill>
                  <a:srgbClr val="5C4E3C"/>
                </a:solidFill>
                <a:latin typeface="PingFang SC"/>
                <a:ea typeface="PingFang SC"/>
              </a:rPr>
              <a:t>F2</a:t>
            </a:r>
            <a:r>
              <a:rPr lang="zh-CN" sz="1200">
                <a:solidFill>
                  <a:srgbClr val="5C4E3C"/>
                </a:solidFill>
                <a:latin typeface="PingFang SC"/>
                <a:ea typeface="PingFang SC"/>
              </a:rPr>
              <a:t>），补的是低音厚度，让声音站得住。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4210050" y="3114675"/>
            <a:ext cx="7296150" cy="9525"/>
          </a:xfrm>
          <a:prstGeom prst="rect">
            <a:avLst/>
          </a:prstGeom>
          <a:solidFill>
            <a:srgbClr val="EBDFC7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4210050" y="3257550"/>
            <a:ext cx="28575" cy="904875"/>
          </a:xfrm>
          <a:prstGeom prst="roundRect">
            <a:avLst>
              <a:gd name="adj" fmla="val 66667"/>
            </a:avLst>
          </a:prstGeom>
          <a:solidFill>
            <a:srgbClr val="B0552E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391025" y="3257550"/>
            <a:ext cx="7115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41C14"/>
                </a:solidFill>
                <a:latin typeface="PingFang SC"/>
                <a:ea typeface="PingFang SC"/>
              </a:rPr>
              <a:t>颤音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391025" y="3562350"/>
            <a:ext cx="71151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00">
                <a:solidFill>
                  <a:srgbClr val="5C4E3C"/>
                </a:solidFill>
                <a:latin typeface="PingFang SC"/>
                <a:ea typeface="PingFang SC"/>
              </a:rPr>
              <a:t>它其实不是「颤音效果」：合成弦音的延迟线必须取整数个采样点，实发频率与理论频率差了一点点，与低音层纯正弦互相打拍子。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4210050" y="4314825"/>
            <a:ext cx="7296150" cy="1590675"/>
          </a:xfrm>
          <a:prstGeom prst="roundRect">
            <a:avLst>
              <a:gd name="adj" fmla="val 4790"/>
            </a:avLst>
          </a:prstGeom>
          <a:solidFill>
            <a:srgbClr val="1E1710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419600" y="4467225"/>
            <a:ext cx="687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A7A5E"/>
                </a:solidFill>
                <a:latin typeface="PingFang SC"/>
                <a:ea typeface="PingFang SC"/>
              </a:rPr>
              <a:t>那点「颤音」的算法来源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419600" y="4695825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9B85F"/>
                </a:solidFill>
                <a:latin typeface="SF Mono"/>
                <a:ea typeface="SF Mono"/>
              </a:rPr>
              <a:t xml:space="preserve">48 kHz ÷ 174.614 Hz = 274.90  →  </a:t>
            </a:r>
            <a:r>
              <a:rPr lang="zh-CN" sz="1200">
                <a:solidFill>
                  <a:srgbClr val="E9B85F"/>
                </a:solidFill>
                <a:latin typeface="SF Mono"/>
                <a:ea typeface="SF Mono"/>
              </a:rPr>
              <a:t>延迟线取整</a:t>
            </a:r>
            <a:r>
              <a:rPr lang="en-US" sz="1200">
                <a:solidFill>
                  <a:srgbClr val="E9B85F"/>
                </a:solidFill>
                <a:latin typeface="SF Mono"/>
                <a:ea typeface="SF Mono"/>
              </a:rPr>
              <a:t xml:space="preserve"> 275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419600" y="5067300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C9A97E"/>
                </a:solidFill>
                <a:latin typeface="SF Mono"/>
                <a:ea typeface="SF Mono"/>
              </a:rPr>
              <a:t>实发频率</a:t>
            </a:r>
            <a:r>
              <a:rPr lang="en-US" sz="1200">
                <a:solidFill>
                  <a:srgbClr val="C9A97E"/>
                </a:solidFill>
                <a:latin typeface="SF Mono"/>
                <a:ea typeface="SF Mono"/>
              </a:rPr>
              <a:t xml:space="preserve"> ≈ 48000 ÷ 275.5 ≈ 174.23 Hz</a:t>
            </a:r>
            <a:r>
              <a:rPr lang="zh-CN" sz="1200">
                <a:solidFill>
                  <a:srgbClr val="C9A97E"/>
                </a:solidFill>
                <a:latin typeface="SF Mono"/>
                <a:ea typeface="SF Mono"/>
              </a:rPr>
              <a:t>　</a:t>
            </a:r>
            <a:r>
              <a:rPr lang="en-US" sz="1200">
                <a:solidFill>
                  <a:srgbClr val="C9A97E"/>
                </a:solidFill>
                <a:latin typeface="SF Mono"/>
                <a:ea typeface="SF Mono"/>
              </a:rPr>
              <a:t>|</a:t>
            </a:r>
            <a:r>
              <a:rPr lang="zh-CN" sz="1200">
                <a:solidFill>
                  <a:srgbClr val="C9A97E"/>
                </a:solidFill>
                <a:latin typeface="SF Mono"/>
                <a:ea typeface="SF Mono"/>
              </a:rPr>
              <a:t>　低音层纯正弦</a:t>
            </a:r>
            <a:r>
              <a:rPr lang="en-US" sz="1200">
                <a:solidFill>
                  <a:srgbClr val="C9A97E"/>
                </a:solidFill>
                <a:latin typeface="SF Mono"/>
                <a:ea typeface="SF Mono"/>
              </a:rPr>
              <a:t xml:space="preserve"> = 174.614 Hz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419600" y="5438775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FBF3E3"/>
                </a:solidFill>
                <a:latin typeface="SF Mono"/>
                <a:ea typeface="SF Mono"/>
              </a:rPr>
              <a:t>相差</a:t>
            </a:r>
            <a:r>
              <a:rPr lang="en-US" sz="1200">
                <a:solidFill>
                  <a:srgbClr val="FBF3E3"/>
                </a:solidFill>
                <a:latin typeface="SF Mono"/>
                <a:ea typeface="SF Mono"/>
              </a:rPr>
              <a:t xml:space="preserve"> ≈ 0.385 Hz</a:t>
            </a:r>
            <a:r>
              <a:rPr lang="zh-CN" sz="1200">
                <a:solidFill>
                  <a:srgbClr val="FBF3E3"/>
                </a:solidFill>
                <a:latin typeface="SF Mono"/>
                <a:ea typeface="SF Mono"/>
              </a:rPr>
              <a:t>　→　每约</a:t>
            </a:r>
            <a:r>
              <a:rPr lang="en-US" sz="1200">
                <a:solidFill>
                  <a:srgbClr val="FBF3E3"/>
                </a:solidFill>
                <a:latin typeface="SF Mono"/>
                <a:ea typeface="SF Mono"/>
              </a:rPr>
              <a:t xml:space="preserve"> 2.6 </a:t>
            </a:r>
            <a:r>
              <a:rPr lang="zh-CN" sz="1200">
                <a:solidFill>
                  <a:srgbClr val="FBF3E3"/>
                </a:solidFill>
                <a:latin typeface="SF Mono"/>
                <a:ea typeface="SF Mono"/>
              </a:rPr>
              <a:t>秒打一次拍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1058525" y="63627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>07 / 12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6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6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6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6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6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6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6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6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6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4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6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4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15" name="" descr="&lt;Slide style={{ width: 1280, height: 720, background: '#FBF3E3', padding: '20px 72px', flexDirection: 'column' }}&gt;&#10;    &lt;Box style={{ height: 78, flexDirection: 'row', justifyContent: 'space-between', alignItems: 'flex-start' }}&gt;&#10;        &lt;Box style={{ flexDirection: 'column', gap: 6 }}&gt;&#10;            &lt;Text style={{ fontSize: 15, letterSpacing: 3, color: '#B0552E', fontFamily: '&quot;PingFang SC&quot;, sans-serif' }}&gt;架 构 与 模 块 边 界&lt;/Text&gt;&#10;            &lt;Text style={{ fontSize: 36, fontWeight: 'bold', color: '#241C14', fontFamily: '&quot;Songti SC&quot;,&quot;STSong&quot;,serif' }}&gt;一条可替换的链路&lt;/Text&gt;&#10;        &lt;/Box&gt;&#10;        &lt;Box style={{ width: 44, height: 44, borderRadius: 4, background: 'linear-gradient(135deg,#C2543C 0%,#8F3F1F 100%)', justifyContent: 'center', alignItems: 'center' }}&gt;&#10;            &lt;Text style={{ fontSize: 20, color: '#FBEFD8', fontFamily: '&quot;Songti SC&quot;,serif', fontWeight: 'bold' }}&gt;弦&lt;/Text&gt;&#10;        &lt;/Box&gt;&#10;    &lt;/Box&gt;&#10;    &lt;Box style={{ height: 1, background: '#E3D6BC', marginTop: 6 }} /&gt;&#10;    &lt;Box style={{ flexDirection: 'row', gap: 34, marginTop: 20, height: 542 }}&gt;&#10;        &lt;Box style={{ width: 736, flexDirection: 'column' }}&gt;&#10;            &lt;Text style={{ fontSize: 15, letterSpacing: 2, color: '#6E8F7C', fontFamily: '&quot;PingFang SC&quot;, sans-serif', marginBottom: 14 }}&gt;现 有 原 型 链 路&lt;/Text&gt;&#10;            {[&#10;                { n: '1', t: '摄像头画面', d: '浏览器采集接入姿态链路', c: '#6E8F7C' },&#10;                { n: '2', t: 'Pose Landmarker 关键点', d: '本地姿态模型输出统一关键点帧', c: '#6E8F7C' },&#10;                { n: '3', t: '八段锦动作判定', d: '输出命中、周期、完成等事件', c: '#B08A3E' },&#10;                { n: '4', t: '弦音与弦位反馈', d: '一至七弦触发琴音，弦位亮起', c: '#B0552E' },&#10;                { n: '5', t: '本地练习记录', d: '完成提示与结果归档', c: '#8C8474' },&#10;            ].map((s, i) =&gt; (&#10;                &lt;Box key={i} style={{ flexDirection: 'row', gap: 18 }}&gt;&#10;                    &lt;Box style={{ width: 44, flexDirection: 'column', alignItems: 'center' }}&gt;&#10;                        &lt;Box style={{ width: 40, height: 40, borderRadius: 20, background: s.c, justifyContent: 'center', alignItems: 'center', boxShadow: '0 6px 16px rgba(60,40,20,0.16)' }}&gt;&#10;                            &lt;Text style={{ fontSize: 18, fontWeight: 'bold', color: '#FBF3E3', fontFamily: '&quot;Songti SC&quot;,serif' }}&gt;{s.n}&lt;/Text&gt;&#10;                        &lt;/Box&gt;&#10;                        {i &lt; 4 ? &lt;Box style={{ width: 2, flex: 1, background: '#DCCBA8' }} /&gt; : &lt;Box style={{ height: 4 }} /&gt;}&#10;                    &lt;/Box&gt;&#10;                    &lt;Box style={{ flex: 1, flexDirection: 'column', gap: 4, paddingBottom: 19 }}&gt;&#10;                        &lt;Text style={{ fontSize: 21, fontWeight: 'bold', color: '#241C14', fontFamily: '&quot;PingFang SC&quot;, sans-serif' }}&gt;{s.t}&lt;/Text&gt;&#10;                        &lt;Text style={{ fontSize: 16, color: '#7C6B54', fontFamily: '&quot;PingFang SC&quot;, sans-serif', lineHeight: 1.6 }}&gt;{s.d}&lt;/Text&gt;&#10;                    &lt;/Box&gt;&#10;                &lt;/Box&gt;&#10;            ))}&#10;            &lt;Box style={{ marginTop: 4, background: '#F2E7D2', borderRadius: 8, padding: '14px 20px', borderLeft: '3px solid #C9A97E' }}&gt;&#10;                &lt;Text style={{ fontSize: 16, color: '#5C4E3C', fontFamily: '&quot;PingFang SC&quot;, sans-serif', lineHeight: 1.6 }}&gt;&#10;                    逻辑接线：姿态输入 → 动作判定 → 动作事件 → 音频、界面与记录；文化编排向练习与音频下发配置，而不是把每个动作绑定成脏器结论。&#10;                &lt;/Text&gt;&#10;            &lt;/Box&gt;&#10;        &lt;/Box&gt;&#10;        &lt;Box style={{ flex: 1, flexDirection: 'column', gap: 14 }}&gt;&#10;            &lt;Text style={{ fontSize: 15, letterSpacing: 2, color: '#B0552E', fontFamily: '&quot;PingFang SC&quot;, sans-serif' }}&gt;接 口 契 约 · 设 计 中&lt;/Text&gt;&#10;            &lt;Box style={{ background: '#1E1710', borderRadius: 8, padding: 20, flexDirection: 'column', gap: 14 }}&gt;&#10;                &lt;Box style={{ flexDirection: 'column', gap: 4 }}&gt;&#10;                    &lt;Text style={{ fontSize: 17, color: '#E9B85F', fontFamily: '&quot;SF Mono&quot;,&quot;Menlo&quot;,monospace' }}&gt;onHit(stringIndex)&lt;/Text&gt;&#10;                    &lt;Text style={{ fontSize: 15, color: '#A2937A', fontFamily: '&quot;PingFang SC&quot;, sans-serif', lineHeight: 1.5 }}&gt;1–7 弦触发对应琴弦；完成齐鸣使用 choir。&lt;/Text&gt;&#10;                &lt;/Box&gt;&#10;                &lt;Box style={{ height: 1, background: 'rgba(201,169,126,0.22)' }} /&gt;&#10;                &lt;Box style={{ flexDirection: 'column', gap: 4 }}&gt;&#10;                    &lt;Text style={{ fontSize: 17, color: '#E9B85F', fontFamily: '&quot;SF Mono&quot;,&quot;Menlo&quot;,monospace' }}&gt;onPulse()&lt;/Text&gt;&#10;                    &lt;Text style={{ fontSize: 15, color: '#A2937A', fontFamily: '&quot;PingFang SC&quot;, sans-serif', lineHeight: 1.5 }}&gt;一次完整动作周期，用于推进音乐乐句。&lt;/Text&gt;&#10;                &lt;/Box&gt;&#10;                &lt;Box style={{ height: 1, background: 'rgba(201,169,126,0.22)' }} /&gt;&#10;                &lt;Box style={{ flexDirection: 'column', gap: 4 }}&gt;&#10;                    &lt;Text style={{ fontSize: 17, color: '#E9B85F', fontFamily: '&quot;SF Mono&quot;,&quot;Menlo&quot;,monospace' }}&gt;onFinish()&lt;/Text&gt;&#10;                    &lt;Text style={{ fontSize: 15, color: '#A2937A', fontFamily: '&quot;PingFang SC&quot;, sans-serif', lineHeight: 1.5 }}&gt;本次练习结束，触发音乐收束与结果归档。&lt;/Text&gt;&#10;                &lt;/Box&gt;&#10;            &lt;/Box&gt;&#10;            &lt;Box style={{ flex: 1, justifyContent: 'center', background: '#F2E7D2', borderRadius: 8, padding: 20, borderLeft: '3px solid #6E8F7C' }}&gt;&#10;                &lt;Text style={{ fontSize: 16, color: '#4E5B4F', fontFamily: '&quot;PingFang SC&quot;, sans-serif', lineHeight: 1.68 }}&gt;&#10;                    这是设计契约，不是可直接安装调用的已发布 SDK——不公开判定阈值与音色实现。&#10;                &lt;/Text&gt;&#10;                &lt;Text style={{ fontSize: 15, color: '#8A7A5E', fontFamily: '&quot;PingFang SC&quot;, sans-serif', lineHeight: 1.6, marginTop: 10 }}&gt;&#10;                    模块：文化与体验编排 / 姿态输入适配 / 动作判定 / 音频模块 / 场景与记录。&#10;                &lt;/Text&gt;&#10;            &lt;/Box&gt;&#10;        &lt;/Box&gt;&#10;    &lt;/Box&gt;&#10;    &lt;Box style={{ height: 30, flexDirection: 'row', justifyContent: 'space-between', alignItems: 'flex-end' }}&gt;&#10;        &lt;Text style={{ fontSize: 14, color: '#A9977B', fontFamily: '&quot;PingFang SC&quot;, sans-serif' }}&gt;弦养 · 以身为琴，以动为弦&lt;/Text&gt;&#10;        &lt;Text style={{ fontSize: 14, color: '#A9977B', fontFamily: '&quot;PingFang SC&quot;, sans-serif' }}&gt;08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3E3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架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构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与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模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块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边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界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41C14"/>
                </a:solidFill>
                <a:latin typeface="Songti SC"/>
                <a:ea typeface="Songti SC"/>
              </a:rPr>
              <a:t>一条可替换的链路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11087100" y="190500"/>
            <a:ext cx="419100" cy="4191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201400" y="285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685800" y="990600"/>
            <a:ext cx="10820400" cy="9525"/>
          </a:xfrm>
          <a:prstGeom prst="rect">
            <a:avLst/>
          </a:prstGeom>
          <a:solidFill>
            <a:srgbClr val="E3D6BC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85800" y="1190625"/>
            <a:ext cx="701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现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有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原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型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链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路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704850" y="1495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E8F7C"/>
          </a:solidFill>
          <a:ln/>
          <a:effectLst>
            <a:outerShdw blurRad="152400" dist="57150" dir="5400000">
              <a:srgbClr val="3C2814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F3E3"/>
                </a:solidFill>
                <a:latin typeface="Songti SC"/>
                <a:ea typeface="Songti SC"/>
              </a:rPr>
              <a:t>1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885825" y="1876425"/>
            <a:ext cx="19050" cy="381000"/>
          </a:xfrm>
          <a:prstGeom prst="rect">
            <a:avLst/>
          </a:prstGeom>
          <a:solidFill>
            <a:srgbClr val="DCCBA8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276350" y="1495425"/>
            <a:ext cx="6419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41C14"/>
                </a:solidFill>
                <a:latin typeface="PingFang SC"/>
                <a:ea typeface="PingFang SC"/>
              </a:rPr>
              <a:t>摄像头画面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276350" y="1781175"/>
            <a:ext cx="6419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7C6B54"/>
                </a:solidFill>
                <a:latin typeface="PingFang SC"/>
                <a:ea typeface="PingFang SC"/>
              </a:rPr>
              <a:t>浏览器采集接入姿态链路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704850" y="2257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E8F7C"/>
          </a:solidFill>
          <a:ln/>
          <a:effectLst>
            <a:outerShdw blurRad="152400" dist="57150" dir="5400000">
              <a:srgbClr val="3C2814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57250" y="23431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F3E3"/>
                </a:solidFill>
                <a:latin typeface="Songti SC"/>
                <a:ea typeface="Songti SC"/>
              </a:rPr>
              <a:t>2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885825" y="2638425"/>
            <a:ext cx="19050" cy="381000"/>
          </a:xfrm>
          <a:prstGeom prst="rect">
            <a:avLst/>
          </a:prstGeom>
          <a:solidFill>
            <a:srgbClr val="DCCBA8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276350" y="2257425"/>
            <a:ext cx="6419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41C14"/>
                </a:solidFill>
                <a:latin typeface="PingFang SC"/>
                <a:ea typeface="PingFang SC"/>
              </a:rPr>
              <a:t xml:space="preserve">Pose Landmarker </a:t>
            </a:r>
            <a:r>
              <a:rPr lang="zh-CN" sz="1575" b="1">
                <a:solidFill>
                  <a:srgbClr val="241C14"/>
                </a:solidFill>
                <a:latin typeface="PingFang SC"/>
                <a:ea typeface="PingFang SC"/>
              </a:rPr>
              <a:t>关键点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276350" y="2543175"/>
            <a:ext cx="6419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7C6B54"/>
                </a:solidFill>
                <a:latin typeface="PingFang SC"/>
                <a:ea typeface="PingFang SC"/>
              </a:rPr>
              <a:t>本地姿态模型输出统一关键点帧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704850" y="3019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B08A3E"/>
          </a:solidFill>
          <a:ln/>
          <a:effectLst>
            <a:outerShdw blurRad="152400" dist="57150" dir="5400000">
              <a:srgbClr val="3C2814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57250" y="31051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F3E3"/>
                </a:solidFill>
                <a:latin typeface="Songti SC"/>
                <a:ea typeface="Songti SC"/>
              </a:rPr>
              <a:t>3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885825" y="3400425"/>
            <a:ext cx="19050" cy="381000"/>
          </a:xfrm>
          <a:prstGeom prst="rect">
            <a:avLst/>
          </a:prstGeom>
          <a:solidFill>
            <a:srgbClr val="DCCBA8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276350" y="3019425"/>
            <a:ext cx="6419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41C14"/>
                </a:solidFill>
                <a:latin typeface="PingFang SC"/>
                <a:ea typeface="PingFang SC"/>
              </a:rPr>
              <a:t>八段锦动作判定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276350" y="3305175"/>
            <a:ext cx="6419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7C6B54"/>
                </a:solidFill>
                <a:latin typeface="PingFang SC"/>
                <a:ea typeface="PingFang SC"/>
              </a:rPr>
              <a:t>输出命中、周期、完成等事件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704850" y="3781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B0552E"/>
          </a:solidFill>
          <a:ln/>
          <a:effectLst>
            <a:outerShdw blurRad="152400" dist="57150" dir="5400000">
              <a:srgbClr val="3C2814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57250" y="38671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F3E3"/>
                </a:solidFill>
                <a:latin typeface="Songti SC"/>
                <a:ea typeface="Songti SC"/>
              </a:rPr>
              <a:t>4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885825" y="4162425"/>
            <a:ext cx="19050" cy="381000"/>
          </a:xfrm>
          <a:prstGeom prst="rect">
            <a:avLst/>
          </a:prstGeom>
          <a:solidFill>
            <a:srgbClr val="DCCBA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276350" y="3781425"/>
            <a:ext cx="6419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41C14"/>
                </a:solidFill>
                <a:latin typeface="PingFang SC"/>
                <a:ea typeface="PingFang SC"/>
              </a:rPr>
              <a:t>弦音与弦位反馈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276350" y="4067175"/>
            <a:ext cx="6419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7C6B54"/>
                </a:solidFill>
                <a:latin typeface="PingFang SC"/>
                <a:ea typeface="PingFang SC"/>
              </a:rPr>
              <a:t>一至七弦触发琴音，弦位亮起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704850" y="4543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8C8474"/>
          </a:solidFill>
          <a:ln/>
          <a:effectLst>
            <a:outerShdw blurRad="152400" dist="57150" dir="5400000">
              <a:srgbClr val="3C2814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57250" y="46291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F3E3"/>
                </a:solidFill>
                <a:latin typeface="Songti SC"/>
                <a:ea typeface="Songti SC"/>
              </a:rPr>
              <a:t>5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276350" y="4543425"/>
            <a:ext cx="6419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41C14"/>
                </a:solidFill>
                <a:latin typeface="PingFang SC"/>
                <a:ea typeface="PingFang SC"/>
              </a:rPr>
              <a:t>本地练习记录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276350" y="4829175"/>
            <a:ext cx="6419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7C6B54"/>
                </a:solidFill>
                <a:latin typeface="PingFang SC"/>
                <a:ea typeface="PingFang SC"/>
              </a:rPr>
              <a:t>完成提示与结果归档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714375" y="5343525"/>
            <a:ext cx="7010400" cy="857250"/>
          </a:xfrm>
          <a:prstGeom prst="roundRect">
            <a:avLst>
              <a:gd name="adj" fmla="val 8889"/>
            </a:avLst>
          </a:prstGeom>
          <a:solidFill>
            <a:srgbClr val="F2E7D2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714375" y="5343525"/>
            <a:ext cx="7010400" cy="857250"/>
          </a:xfrm>
          <a:custGeom>
            <a:pathLst>
              <a:path w="736" h="90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5"/>
                </a:lnTo>
                <a:cubicBezTo>
                  <a:pt x="3" y="87"/>
                  <a:pt x="5" y="89"/>
                  <a:pt x="7" y="90"/>
                </a:cubicBezTo>
                <a:cubicBezTo>
                  <a:pt x="3" y="89"/>
                  <a:pt x="0" y="86"/>
                  <a:pt x="0" y="8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C9A97E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904875" y="5476875"/>
            <a:ext cx="6600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C4E3C"/>
                </a:solidFill>
                <a:latin typeface="PingFang SC"/>
                <a:ea typeface="PingFang SC"/>
              </a:rPr>
              <a:t>逻辑接线：姿态输入</a:t>
            </a:r>
            <a:r>
              <a:rPr lang="en-US" sz="1200">
                <a:solidFill>
                  <a:srgbClr val="5C4E3C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5C4E3C"/>
                </a:solidFill>
                <a:latin typeface="PingFang SC"/>
                <a:ea typeface="PingFang SC"/>
              </a:rPr>
              <a:t>动作判定</a:t>
            </a:r>
            <a:r>
              <a:rPr lang="en-US" sz="1200">
                <a:solidFill>
                  <a:srgbClr val="5C4E3C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5C4E3C"/>
                </a:solidFill>
                <a:latin typeface="PingFang SC"/>
                <a:ea typeface="PingFang SC"/>
              </a:rPr>
              <a:t>动作事件</a:t>
            </a:r>
            <a:r>
              <a:rPr lang="en-US" sz="1200">
                <a:solidFill>
                  <a:srgbClr val="5C4E3C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5C4E3C"/>
                </a:solidFill>
                <a:latin typeface="PingFang SC"/>
                <a:ea typeface="PingFang SC"/>
              </a:rPr>
              <a:t>音频、界面与记录；文化编排向练习与音频下发配置，而不是把每个动作绑定成脏器结论。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020050" y="1190625"/>
            <a:ext cx="3486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接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口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契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约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设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计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中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8020050" y="1495425"/>
            <a:ext cx="3486150" cy="2419350"/>
          </a:xfrm>
          <a:prstGeom prst="roundRect">
            <a:avLst>
              <a:gd name="adj" fmla="val 3150"/>
            </a:avLst>
          </a:prstGeom>
          <a:solidFill>
            <a:srgbClr val="1E1710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210550" y="1685925"/>
            <a:ext cx="310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9B85F"/>
                </a:solidFill>
                <a:latin typeface="SF Mono"/>
                <a:ea typeface="SF Mono"/>
              </a:rPr>
              <a:t>onHit(stringIndex)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210550" y="192405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A2937A"/>
                </a:solidFill>
                <a:latin typeface="PingFang SC"/>
                <a:ea typeface="PingFang SC"/>
              </a:rPr>
              <a:t xml:space="preserve">1–7 </a:t>
            </a:r>
            <a:r>
              <a:rPr lang="zh-CN" sz="1125">
                <a:solidFill>
                  <a:srgbClr val="A2937A"/>
                </a:solidFill>
                <a:latin typeface="PingFang SC"/>
                <a:ea typeface="PingFang SC"/>
              </a:rPr>
              <a:t>弦触发对应琴弦；完成齐鸣使用</a:t>
            </a:r>
            <a:r>
              <a:rPr lang="en-US" sz="1125">
                <a:solidFill>
                  <a:srgbClr val="A2937A"/>
                </a:solidFill>
                <a:latin typeface="PingFang SC"/>
                <a:ea typeface="PingFang SC"/>
              </a:rPr>
              <a:t xml:space="preserve"> choir</a:t>
            </a:r>
            <a:r>
              <a:rPr lang="zh-CN" sz="1125">
                <a:solidFill>
                  <a:srgbClr val="A2937A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8210550" y="2314575"/>
            <a:ext cx="3105150" cy="9525"/>
          </a:xfrm>
          <a:prstGeom prst="rect">
            <a:avLst/>
          </a:prstGeom>
          <a:solidFill>
            <a:srgbClr val="C9A97E">
              <a:alpha val="22000"/>
            </a:srgbClr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210550" y="2457450"/>
            <a:ext cx="310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9B85F"/>
                </a:solidFill>
                <a:latin typeface="SF Mono"/>
                <a:ea typeface="SF Mono"/>
              </a:rPr>
              <a:t>onPulse()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210550" y="2695575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2937A"/>
                </a:solidFill>
                <a:latin typeface="PingFang SC"/>
                <a:ea typeface="PingFang SC"/>
              </a:rPr>
              <a:t>一次完整动作周期，用于推进音乐乐句。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8210550" y="3086100"/>
            <a:ext cx="3105150" cy="9525"/>
          </a:xfrm>
          <a:prstGeom prst="rect">
            <a:avLst/>
          </a:prstGeom>
          <a:solidFill>
            <a:srgbClr val="C9A97E">
              <a:alpha val="22000"/>
            </a:srgbClr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210550" y="3228975"/>
            <a:ext cx="310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9B85F"/>
                </a:solidFill>
                <a:latin typeface="SF Mono"/>
                <a:ea typeface="SF Mono"/>
              </a:rPr>
              <a:t>onFinish()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210550" y="346710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2937A"/>
                </a:solidFill>
                <a:latin typeface="PingFang SC"/>
                <a:ea typeface="PingFang SC"/>
              </a:rPr>
              <a:t>本次练习结束，触发音乐收束与结果归档。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8048625" y="4048125"/>
            <a:ext cx="3486150" cy="2305050"/>
          </a:xfrm>
          <a:prstGeom prst="roundRect">
            <a:avLst>
              <a:gd name="adj" fmla="val 3306"/>
            </a:avLst>
          </a:prstGeom>
          <a:solidFill>
            <a:srgbClr val="F2E7D2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8048625" y="4048125"/>
            <a:ext cx="3486150" cy="2305050"/>
          </a:xfrm>
          <a:custGeom>
            <a:pathLst>
              <a:path w="366" h="24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237"/>
                </a:lnTo>
                <a:cubicBezTo>
                  <a:pt x="3" y="239"/>
                  <a:pt x="5" y="241"/>
                  <a:pt x="7" y="242"/>
                </a:cubicBezTo>
                <a:cubicBezTo>
                  <a:pt x="3" y="241"/>
                  <a:pt x="0" y="238"/>
                  <a:pt x="0" y="23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E8F7C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239125" y="4572000"/>
            <a:ext cx="30765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00">
                <a:solidFill>
                  <a:srgbClr val="4E5B4F"/>
                </a:solidFill>
                <a:latin typeface="PingFang SC"/>
                <a:ea typeface="PingFang SC"/>
              </a:rPr>
              <a:t>这是设计契约，不是可直接安装调用的已发布</a:t>
            </a:r>
            <a:r>
              <a:rPr lang="en-US" sz="1200">
                <a:solidFill>
                  <a:srgbClr val="4E5B4F"/>
                </a:solidFill>
                <a:latin typeface="PingFang SC"/>
                <a:ea typeface="PingFang SC"/>
              </a:rPr>
              <a:t xml:space="preserve"> SDK——</a:t>
            </a:r>
            <a:r>
              <a:rPr lang="zh-CN" sz="1200">
                <a:solidFill>
                  <a:srgbClr val="4E5B4F"/>
                </a:solidFill>
                <a:latin typeface="PingFang SC"/>
                <a:ea typeface="PingFang SC"/>
              </a:rPr>
              <a:t>不公开判定阈值与音色实现。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239125" y="5286375"/>
            <a:ext cx="30765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A7A5E"/>
                </a:solidFill>
                <a:latin typeface="PingFang SC"/>
                <a:ea typeface="PingFang SC"/>
              </a:rPr>
              <a:t>模块：文化与体验编排</a:t>
            </a:r>
            <a:r>
              <a:rPr lang="en-US" sz="1125">
                <a:solidFill>
                  <a:srgbClr val="8A7A5E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8A7A5E"/>
                </a:solidFill>
                <a:latin typeface="PingFang SC"/>
                <a:ea typeface="PingFang SC"/>
              </a:rPr>
              <a:t>姿态输入适配</a:t>
            </a:r>
            <a:r>
              <a:rPr lang="en-US" sz="1125">
                <a:solidFill>
                  <a:srgbClr val="8A7A5E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8A7A5E"/>
                </a:solidFill>
                <a:latin typeface="PingFang SC"/>
                <a:ea typeface="PingFang SC"/>
              </a:rPr>
              <a:t>动作判定</a:t>
            </a:r>
            <a:r>
              <a:rPr lang="en-US" sz="1125">
                <a:solidFill>
                  <a:srgbClr val="8A7A5E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8A7A5E"/>
                </a:solidFill>
                <a:latin typeface="PingFang SC"/>
                <a:ea typeface="PingFang SC"/>
              </a:rPr>
              <a:t>音频模块</a:t>
            </a:r>
            <a:r>
              <a:rPr lang="en-US" sz="1125">
                <a:solidFill>
                  <a:srgbClr val="8A7A5E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8A7A5E"/>
                </a:solidFill>
                <a:latin typeface="PingFang SC"/>
                <a:ea typeface="PingFang SC"/>
              </a:rPr>
              <a:t>场景与记录。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85800" y="647700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049000" y="6477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366" name="" descr="&lt;Slide style={{ width: 1280, height: 720, background: '#FBF3E3', padding: '20px 72px', flexDirection: 'column' }}&gt;&#10;    &lt;Box style={{ height: 78, flexDirection: 'row', justifyContent: 'space-between', alignItems: 'flex-start' }}&gt;&#10;        &lt;Box style={{ flexDirection: 'column', gap: 6 }}&gt;&#10;            &lt;Text style={{ fontSize: 15, letterSpacing: 3, color: '#B0552E', fontFamily: '&quot;PingFang SC&quot;, sans-serif' }}&gt;应 用 场 景 与 可 插 拔&lt;/Text&gt;&#10;            &lt;Text style={{ fontSize: 36, fontWeight: 'bold', color: '#241C14', fontFamily: '&quot;Songti SC&quot;,&quot;STSong&quot;,serif' }}&gt;从居家练习，到康养空间&lt;/Text&gt;&#10;        &lt;/Box&gt;&#10;        &lt;Box style={{ width: 44, height: 44, borderRadius: 4, background: 'linear-gradient(135deg,#C2543C 0%,#8F3F1F 100%)', justifyContent: 'center', alignItems: 'center' }}&gt;&#10;            &lt;Text style={{ fontSize: 20, color: '#FBEFD8', fontFamily: '&quot;Songti SC&quot;,serif', fontWeight: 'bold' }}&gt;弦&lt;/Text&gt;&#10;        &lt;/Box&gt;&#10;    &lt;/Box&gt;&#10;    &lt;Box style={{ height: 1, background: '#E3D6BC', marginTop: 6 }} /&gt;&#10;    &lt;Box style={{ flexDirection: 'row', gap: 30, marginTop: 20, height: 530 }}&gt;&#10;        &lt;Animation animType=&quot;fadeIn&quot; duration={700}&gt;&#10;            &lt;Box style={{ width: 610, height: 530, position: 'relative', borderRadius: 8, overflow: 'hidden', boxShadow: '0 12px 34px rgba(60,40,20,0.16)' }}&gt;&#10;                &lt;Image src=&quot;assets/scene_room.png&quot; style={{ position: 'absolute', top: 0, left: 0, width: 610, height: 530, objectFit: 'cover' }} /&gt;&#10;                &lt;Box style={{ position: 'absolute', top: 264, left: 0, width: 610, height: 266, background: 'linear-gradient(0deg, rgba(24,17,11,0.94) 0%, rgba(24,17,11,0.58) 46%, rgba(24,17,11,0) 100%)' }} /&gt;&#10;                &lt;Box style={{ position: 'absolute', top: 0, left: 0, width: 610, height: 530, flexDirection: 'column', justifyContent: 'flex-end', paddingLeft: 32, paddingRight: 32, paddingBottom: 30, gap: 10 }}&gt;&#10;                    &lt;Text style={{ fontSize: 15, letterSpacing: 2, color: '#C9A97E', fontFamily: '&quot;PingFang SC&quot;, sans-serif' }}&gt;当 前 展 示 场 景&lt;/Text&gt;&#10;                    &lt;Text style={{ fontSize: 34, fontWeight: 'bold', color: '#FBF3E3', fontFamily: '&quot;Songti SC&quot;,serif' }}&gt;居家跟练&lt;/Text&gt;&#10;                    &lt;Text style={{ fontSize: 17, color: '#E4D9C0', fontFamily: '&quot;PingFang SC&quot;, sans-serif', lineHeight: 1.66 }}&gt;&#10;                        一床古琴、一方静室：用户在摄像头前完成八段锦，身体动作得到可听见的回应。&#10;                    &lt;/Text&gt;&#10;                &lt;/Box&gt;&#10;            &lt;/Box&gt;&#10;        &lt;/Animation&gt;&#10;        &lt;Box style={{ flex: 1, flexDirection: 'column', gap: 16 }}&gt;&#10;            &lt;Animation animType=&quot;fadeIn&quot; startType=&quot;afterPrevious&quot; duration={600}&gt;&#10;                &lt;Box style={{ flexDirection: 'column', gap: 12 }}&gt;&#10;                    &lt;Text style={{ fontSize: 15, letterSpacing: 2, color: '#B0552E', fontFamily: '&quot;PingFang SC&quot;, sans-serif' }}&gt;扩 展 场 景&lt;/Text&gt;&#10;                    &lt;Box style={{ flexDirection: 'row', flexWrap: 'wrap', gap: 10 }}&gt;&#10;                        {['团体课程', '互动展陈', '康养空间'].map((t, i) =&gt; (&#10;                            &lt;Box key={i} style={{ padding: '9px 18px', borderRadius: 20, background: '#B0552E' }}&gt;&#10;                                &lt;Text style={{ fontSize: 16, color: '#FBEFD8', fontFamily: '&quot;PingFang SC&quot;, sans-serif' }}&gt;{t}&lt;/Text&gt;&#10;                            &lt;/Box&gt;&#10;                        ))}&#10;                    &lt;/Box&gt;&#10;                    &lt;Box style={{ height: 1, background: '#E3D6BC' }} /&gt;&#10;                    &lt;Text style={{ fontSize: 15, letterSpacing: 2, color: '#6E8F7C', fontFamily: '&quot;PingFang SC&quot;, sans-serif' }}&gt;可 插 拔 接 入 对 象&lt;/Text&gt;&#10;                    &lt;Box style={{ flexDirection: 'row', flexWrap: 'wrap', gap: 10 }}&gt;&#10;                        {['手机 / 电脑摄像头', '扬声器 / 耳机', '大屏 / 投影', '深度摄像头 / 边缘设备', '灯光 / 振动外设', '智能音箱 / 第三方应用'].map((t, i) =&gt; (&#10;                            &lt;Box key={i} style={{ padding: '8px 15px', borderRadius: 18, background: '#F7EEDC', border: '1px solid #DCCBA8' }}&gt;&#10;                                &lt;Text style={{ fontSize: 15, color: '#5C4E3C', fontFamily: '&quot;PingFang SC&quot;, sans-serif' }}&gt;{t}&lt;/Text&gt;&#10;                            &lt;/Box&gt;&#10;                        ))}&#10;                    &lt;/Box&gt;&#10;                &lt;/Box&gt;&#10;            &lt;/Animation&gt;&#10;            &lt;Box style={{ flexDirection: 'column', gap: 8, background: '#F7EEDC', borderRadius: 8, padding: '14px 18px', border: '1px solid #DCCBA8' }}&gt;&#10;                &lt;Text style={{ fontSize: 15, letterSpacing: 2, color: '#B08A3E', fontFamily: '&quot;PingFang SC&quot;, sans-serif' }}&gt;最 小 接 入 步 骤&lt;/Text&gt;&#10;                &lt;Text style={{ fontSize: 15, color: '#5C4E3C', fontFamily: '&quot;PingFang SC&quot;, sans-serif', lineHeight: 1.55 }}&gt;&#10;                    选输入 → 做适配 → 接判定器 → 接文化配置 → 接声音与界面 → 验证与降级。&#10;                &lt;/Text&gt;&#10;            &lt;/Box&gt;&#10;            &lt;Box style={{ background: '#F2E7D2', borderRadius: 8, padding: 20, borderLeft: '3px solid #6E8F7C' }}&gt;&#10;                &lt;Text style={{ fontSize: 16, color: '#4E5B4F', fontFamily: '&quot;PingFang SC&quot;, sans-serif', lineHeight: 1.68 }}&gt;&#10;                    保持文化配置与动作事件的含义稳定，通过适配层更换设备或使用场景；写出接口不等于已验证可插拔，需用实际替换测试证明。&#10;                &lt;/Text&gt;&#10;            &lt;/Box&gt;&#10;        &lt;/Box&gt;&#10;    &lt;/Box&gt;&#10;    &lt;Box style={{ height: 30, flexDirection: 'row', justifyContent: 'space-between', alignItems: 'flex-end' }}&gt;&#10;        &lt;Text style={{ fontSize: 14, color: '#A9977B', fontFamily: '&quot;PingFang SC&quot;, sans-serif' }}&gt;弦养 · 以身为琴，以动为弦&lt;/Text&gt;&#10;        &lt;Text style={{ fontSize: 14, color: '#A9977B', fontFamily: '&quot;PingFang SC&quot;, sans-serif' }}&gt;09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3E3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应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用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场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景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与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可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插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拔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3771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41C14"/>
                </a:solidFill>
                <a:latin typeface="Songti SC"/>
                <a:ea typeface="Songti SC"/>
              </a:rPr>
              <a:t>从居家练习，到康养空间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11087100" y="190500"/>
            <a:ext cx="419100" cy="4191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201400" y="285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85800" y="990600"/>
            <a:ext cx="10820400" cy="9525"/>
          </a:xfrm>
          <a:prstGeom prst="rect">
            <a:avLst/>
          </a:prstGeom>
          <a:solidFill>
            <a:srgbClr val="E3D6BC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781800" y="1190625"/>
            <a:ext cx="472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扩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展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场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景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781800" y="1476375"/>
            <a:ext cx="952500" cy="361950"/>
          </a:xfrm>
          <a:prstGeom prst="roundRect">
            <a:avLst>
              <a:gd name="adj" fmla="val 52632"/>
            </a:avLst>
          </a:prstGeom>
          <a:solidFill>
            <a:srgbClr val="B0552E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953250" y="15621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EFD8"/>
                </a:solidFill>
                <a:latin typeface="PingFang SC"/>
                <a:ea typeface="PingFang SC"/>
              </a:rPr>
              <a:t>团体课程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7829550" y="1476375"/>
            <a:ext cx="952500" cy="361950"/>
          </a:xfrm>
          <a:prstGeom prst="roundRect">
            <a:avLst>
              <a:gd name="adj" fmla="val 52632"/>
            </a:avLst>
          </a:prstGeom>
          <a:solidFill>
            <a:srgbClr val="B0552E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001000" y="15621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EFD8"/>
                </a:solidFill>
                <a:latin typeface="PingFang SC"/>
                <a:ea typeface="PingFang SC"/>
              </a:rPr>
              <a:t>互动展陈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8877300" y="1476375"/>
            <a:ext cx="952500" cy="361950"/>
          </a:xfrm>
          <a:prstGeom prst="roundRect">
            <a:avLst>
              <a:gd name="adj" fmla="val 52632"/>
            </a:avLst>
          </a:prstGeom>
          <a:solidFill>
            <a:srgbClr val="B0552E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048750" y="15621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EFD8"/>
                </a:solidFill>
                <a:latin typeface="PingFang SC"/>
                <a:ea typeface="PingFang SC"/>
              </a:rPr>
              <a:t>康养空间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781800" y="1952625"/>
            <a:ext cx="4724400" cy="9525"/>
          </a:xfrm>
          <a:prstGeom prst="rect">
            <a:avLst/>
          </a:prstGeom>
          <a:solidFill>
            <a:srgbClr val="E3D6BC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781800" y="2076450"/>
            <a:ext cx="472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可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插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拔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接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入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对</a:t>
            </a:r>
            <a:r>
              <a:rPr lang="en-US" sz="1125" spc="150">
                <a:solidFill>
                  <a:srgbClr val="6E8F7C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6E8F7C"/>
                </a:solidFill>
                <a:latin typeface="PingFang SC"/>
                <a:ea typeface="PingFang SC"/>
              </a:rPr>
              <a:t>象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781800" y="2362200"/>
            <a:ext cx="1457325" cy="323850"/>
          </a:xfrm>
          <a:prstGeom prst="roundRect">
            <a:avLst>
              <a:gd name="adj" fmla="val 52941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924675" y="2438400"/>
            <a:ext cx="1171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手机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电脑摄像头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8334375" y="2362200"/>
            <a:ext cx="1171575" cy="323850"/>
          </a:xfrm>
          <a:prstGeom prst="roundRect">
            <a:avLst>
              <a:gd name="adj" fmla="val 52941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477250" y="2438400"/>
            <a:ext cx="885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扬声器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耳机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9601200" y="2362200"/>
            <a:ext cx="1028700" cy="323850"/>
          </a:xfrm>
          <a:prstGeom prst="roundRect">
            <a:avLst>
              <a:gd name="adj" fmla="val 52941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9744075" y="2438400"/>
            <a:ext cx="74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大屏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投影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781800" y="2781300"/>
            <a:ext cx="1743075" cy="323850"/>
          </a:xfrm>
          <a:prstGeom prst="roundRect">
            <a:avLst>
              <a:gd name="adj" fmla="val 52941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924675" y="2857500"/>
            <a:ext cx="145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深度摄像头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边缘设备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8620125" y="2781300"/>
            <a:ext cx="1314450" cy="323850"/>
          </a:xfrm>
          <a:prstGeom prst="roundRect">
            <a:avLst>
              <a:gd name="adj" fmla="val 52941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763000" y="2857500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灯光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振动外设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781800" y="3200400"/>
            <a:ext cx="1743075" cy="323850"/>
          </a:xfrm>
          <a:prstGeom prst="roundRect">
            <a:avLst>
              <a:gd name="adj" fmla="val 52941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924675" y="3276600"/>
            <a:ext cx="145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智能音箱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第三方应用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781800" y="3676650"/>
            <a:ext cx="4724400" cy="1047750"/>
          </a:xfrm>
          <a:prstGeom prst="roundRect">
            <a:avLst>
              <a:gd name="adj" fmla="val 7273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6953250" y="3810000"/>
            <a:ext cx="438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最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小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接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入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步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骤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953250" y="4057650"/>
            <a:ext cx="4381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选输入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做适配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接判定器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接文化配置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接声音与界面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验证与降级。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810375" y="4876800"/>
            <a:ext cx="4724400" cy="1304925"/>
          </a:xfrm>
          <a:prstGeom prst="roundRect">
            <a:avLst>
              <a:gd name="adj" fmla="val 5839"/>
            </a:avLst>
          </a:prstGeom>
          <a:solidFill>
            <a:srgbClr val="F2E7D2"/>
          </a:solidFill>
          <a:ln/>
        </p:spPr>
        <p:txBody>
          <a:bodyPr/>
          <a:p/>
        </p:txBody>
      </p:sp>
      <p:sp>
        <p:nvSpPr>
          <p:cNvPr id="398" name=""/>
          <p:cNvSpPr/>
          <p:nvPr/>
        </p:nvSpPr>
        <p:spPr>
          <a:xfrm rot="0" flipH="0" flipV="0">
            <a:off x="6810375" y="4876800"/>
            <a:ext cx="4724400" cy="1304925"/>
          </a:xfrm>
          <a:custGeom>
            <a:pathLst>
              <a:path w="496" h="13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32"/>
                </a:lnTo>
                <a:cubicBezTo>
                  <a:pt x="3" y="134"/>
                  <a:pt x="5" y="136"/>
                  <a:pt x="7" y="137"/>
                </a:cubicBezTo>
                <a:cubicBezTo>
                  <a:pt x="3" y="136"/>
                  <a:pt x="0" y="133"/>
                  <a:pt x="0" y="12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E8F7C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000875" y="5067300"/>
            <a:ext cx="431482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00">
                <a:solidFill>
                  <a:srgbClr val="4E5B4F"/>
                </a:solidFill>
                <a:latin typeface="PingFang SC"/>
                <a:ea typeface="PingFang SC"/>
              </a:rPr>
              <a:t>保持文化配置与动作事件的含义稳定，通过适配层更换设备或使用场景；写出接口不等于已验证可插拔，需用实际替换测试证明。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>09 / 12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685800" y="1190625"/>
            <a:ext cx="5810250" cy="5048250"/>
          </a:xfrm>
          <a:prstGeom prst="roundRect">
            <a:avLst>
              <a:gd name="adj" fmla="val 1509"/>
            </a:avLst>
          </a:prstGeom>
          <a:ln/>
          <a:effectLst>
            <a:outerShdw blurRad="323850" dist="114300" dir="5400000">
              <a:srgbClr val="3C281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403" name=""/>
          <p:cNvPicPr>
            <a:picLocks noChangeAspect="1"/>
          </p:cNvPicPr>
          <p:nvPr/>
        </p:nvPicPr>
        <p:blipFill>
          <a:blip r:embed="rId1"/>
          <a:srcRect l="14332" t="0" r="14332" b="0"/>
          <a:stretch>
            <a:fillRect/>
          </a:stretch>
        </p:blipFill>
        <p:spPr>
          <a:xfrm rot="0" flipH="0" flipV="0">
            <a:off x="685800" y="1190625"/>
            <a:ext cx="5810250" cy="5048250"/>
          </a:xfrm>
          <a:custGeom>
            <a:pathLst>
              <a:path w="610" h="530">
                <a:moveTo>
                  <a:pt x="602" y="0"/>
                </a:moveTo>
                <a:cubicBezTo>
                  <a:pt x="607" y="0"/>
                  <a:pt x="610" y="4"/>
                  <a:pt x="610" y="8"/>
                </a:cubicBezTo>
                <a:lnTo>
                  <a:pt x="610" y="522"/>
                </a:lnTo>
                <a:cubicBezTo>
                  <a:pt x="610" y="526"/>
                  <a:pt x="606" y="530"/>
                  <a:pt x="602" y="530"/>
                </a:cubicBezTo>
                <a:lnTo>
                  <a:pt x="8" y="530"/>
                </a:lnTo>
                <a:cubicBezTo>
                  <a:pt x="4" y="530"/>
                  <a:pt x="0" y="526"/>
                  <a:pt x="0" y="522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lnTo>
                  <a:pt x="602" y="0"/>
                </a:lnTo>
                <a:close/>
              </a:path>
            </a:pathLst>
          </a:custGeom>
          <a:ln/>
        </p:spPr>
      </p:pic>
      <p:sp>
        <p:nvSpPr>
          <p:cNvPr id="404" name=""/>
          <p:cNvSpPr/>
          <p:nvPr/>
        </p:nvSpPr>
        <p:spPr>
          <a:xfrm rot="0" flipH="0" flipV="0">
            <a:off x="685800" y="3705225"/>
            <a:ext cx="5810250" cy="2533650"/>
          </a:xfrm>
          <a:custGeom>
            <a:pathLst>
              <a:path w="610" h="266">
                <a:moveTo>
                  <a:pt x="610" y="258"/>
                </a:moveTo>
                <a:cubicBezTo>
                  <a:pt x="610" y="262"/>
                  <a:pt x="606" y="266"/>
                  <a:pt x="602" y="266"/>
                </a:cubicBezTo>
                <a:lnTo>
                  <a:pt x="8" y="266"/>
                </a:lnTo>
                <a:cubicBezTo>
                  <a:pt x="4" y="266"/>
                  <a:pt x="0" y="262"/>
                  <a:pt x="0" y="258"/>
                </a:cubicBezTo>
                <a:lnTo>
                  <a:pt x="0" y="0"/>
                </a:lnTo>
                <a:lnTo>
                  <a:pt x="610" y="0"/>
                </a:lnTo>
                <a:close/>
              </a:path>
            </a:pathLst>
          </a:custGeom>
          <a:gradFill>
            <a:gsLst>
              <a:gs pos="0">
                <a:srgbClr val="18110B">
                  <a:alpha val="94000"/>
                </a:srgbClr>
              </a:gs>
              <a:gs pos="46000">
                <a:srgbClr val="18110B">
                  <a:alpha val="58000"/>
                </a:srgbClr>
              </a:gs>
              <a:gs pos="100000">
                <a:srgbClr val="18110B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990600" y="4552950"/>
            <a:ext cx="5200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C9A97E"/>
                </a:solidFill>
                <a:latin typeface="PingFang SC"/>
                <a:ea typeface="PingFang SC"/>
              </a:rPr>
              <a:t>当</a:t>
            </a:r>
            <a:r>
              <a:rPr lang="en-US" sz="1125" spc="1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C9A97E"/>
                </a:solidFill>
                <a:latin typeface="PingFang SC"/>
                <a:ea typeface="PingFang SC"/>
              </a:rPr>
              <a:t>前</a:t>
            </a:r>
            <a:r>
              <a:rPr lang="en-US" sz="1125" spc="1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C9A97E"/>
                </a:solidFill>
                <a:latin typeface="PingFang SC"/>
                <a:ea typeface="PingFang SC"/>
              </a:rPr>
              <a:t>展</a:t>
            </a:r>
            <a:r>
              <a:rPr lang="en-US" sz="1125" spc="1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C9A97E"/>
                </a:solidFill>
                <a:latin typeface="PingFang SC"/>
                <a:ea typeface="PingFang SC"/>
              </a:rPr>
              <a:t>示</a:t>
            </a:r>
            <a:r>
              <a:rPr lang="en-US" sz="1125" spc="1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C9A97E"/>
                </a:solidFill>
                <a:latin typeface="PingFang SC"/>
                <a:ea typeface="PingFang SC"/>
              </a:rPr>
              <a:t>场</a:t>
            </a:r>
            <a:r>
              <a:rPr lang="en-US" sz="1125" spc="150">
                <a:solidFill>
                  <a:srgbClr val="C9A97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C9A97E"/>
                </a:solidFill>
                <a:latin typeface="PingFang SC"/>
                <a:ea typeface="PingFang SC"/>
              </a:rPr>
              <a:t>景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990600" y="4819650"/>
            <a:ext cx="5200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BF3E3"/>
                </a:solidFill>
                <a:latin typeface="Songti SC"/>
                <a:ea typeface="Songti SC"/>
              </a:rPr>
              <a:t>居家跟练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990600" y="5305425"/>
            <a:ext cx="52006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zh-CN" sz="1275">
                <a:solidFill>
                  <a:srgbClr val="E4D9C0"/>
                </a:solidFill>
                <a:latin typeface="PingFang SC"/>
                <a:ea typeface="PingFang SC"/>
              </a:rPr>
              <a:t>一床古琴、一方静室：用户在摄像头前完成八段锦，身体动作得到可听见的回应。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7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7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7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7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7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7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6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6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6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6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6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6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6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6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6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6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6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6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6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6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6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6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6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6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6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6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32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6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4" name="" descr="&lt;Slide style={{ width: 1280, height: 720, background: '#FBF3E3', padding: '20px 72px', flexDirection: 'column' }}&gt;&#10;    &lt;Box style={{ height: 78, flexDirection: 'row', justifyContent: 'space-between', alignItems: 'flex-start' }}&gt;&#10;        &lt;Box style={{ flexDirection: 'column', gap: 6 }}&gt;&#10;            &lt;Text style={{ fontSize: 15, letterSpacing: 3, color: '#B0552E', fontFamily: '&quot;PingFang SC&quot;, sans-serif' }}&gt;命 题 三 · 契 合 与 交 付 口 径&lt;/Text&gt;&#10;            &lt;Text style={{ fontSize: 36, fontWeight: 'bold', color: '#241C14', fontFamily: '&quot;Songti SC&quot;,&quot;STSong&quot;,serif' }}&gt;可演示的系统原型，与诚实的交付口径&lt;/Text&gt;&#10;        &lt;/Box&gt;&#10;        &lt;Box style={{ width: 44, height: 44, borderRadius: 4, background: 'linear-gradient(135deg,#C2543C 0%,#8F3F1F 100%)', justifyContent: 'center', alignItems: 'center' }}&gt;&#10;            &lt;Text style={{ fontSize: 20, color: '#FBEFD8', fontFamily: '&quot;Songti SC&quot;,serif', fontWeight: 'bold' }}&gt;弦&lt;/Text&gt;&#10;        &lt;/Box&gt;&#10;    &lt;/Box&gt;&#10;    &lt;Box style={{ height: 1, background: '#E3D6BC', marginTop: 6 }} /&gt;&#10;    &lt;Box style={{ flexDirection: 'column', gap: 14, marginTop: 16, height: 548 }}&gt;&#10;        &lt;Box style={{ flexDirection: 'column', gap: 10 }}&gt;&#10;            &lt;Box style={{ flexDirection: 'row', alignItems: 'center', gap: 12 }}&gt;&#10;                &lt;Text style={{ fontSize: 15, letterSpacing: 2, color: '#B0552E', fontFamily: '&quot;PingFang SC&quot;, sans-serif' }}&gt;命 题 列 举 方 向&lt;/Text&gt;&#10;                &lt;Text style={{ fontSize: 14, color: '#8A7A5E', fontFamily: '&quot;PingFang SC&quot;, sans-serif' }}&gt;命题允许任选其一或组合；弦养选其中两项组合，成果按「系统原型」组织。&lt;/Text&gt;&#10;            &lt;/Box&gt;&#10;            &lt;Box style={{ flexDirection: 'row', flexWrap: 'wrap', gap: 8 }}&gt;&#10;                {[&#10;                    { t: '五音疗愈音频 API/SDK', sel: true },&#10;                    { t: 'AI 动作识别 API', sel: true },&#10;                    { t: 'AI 定制音疗处方系统', sel: false },&#10;                    { t: '子午流注控制协议模块', sel: false },&#10;                    { t: '时辰化调理方案引擎', sel: false },&#10;                    { t: '分体质阶梯功法训练 SaaS', sel: false },&#10;                    { t: '和香配方数据库', sel: false },&#10;                    { t: '智能香薰控制 API', sel: false },&#10;                    { t: '节气食养内容库', sel: false },&#10;                    { t: '个性化食养推荐 API', sel: false },&#10;                ].map((c, i) =&gt; (&#10;                    &lt;Box key={i} style={{ padding: '7px 14px', borderRadius: 18, background: c.sel ? '#B0552E' : '#F7EEDC', border: c.sel ? '1px solid #B0552E' : '1px solid #DCCBA8' }}&gt;&#10;                        &lt;Text style={{ fontSize: 14, color: c.sel ? '#FBEFD8' : '#9A8A6E', fontFamily: '&quot;PingFang SC&quot;, sans-serif', fontWeight: c.sel ? 'bold' : 'normal' }}&gt;{c.t}&lt;/Text&gt;&#10;                    &lt;/Box&gt;&#10;                ))}&#10;            &lt;/Box&gt;&#10;        &lt;/Box&gt;&#10;        &lt;Box style={{ flexDirection: 'column', border: '1px solid #E3D6BC', borderRadius: 8, overflow: 'hidden' }}&gt;&#10;            &lt;Box style={{ flexDirection: 'row', background: '#241C14', height: 42 }}&gt;&#10;                &lt;Box style={{ width: 300, paddingLeft: 18, justifyContent: 'center' }}&gt;&#10;                    &lt;Text style={{ fontSize: 15, fontWeight: 'bold', color: '#F3E9D6', fontFamily: '&quot;PingFang SC&quot;, sans-serif' }}&gt;命题方向 / 要求&lt;/Text&gt;&#10;                &lt;/Box&gt;&#10;                &lt;Box style={{ width: 400, paddingLeft: 18, justifyContent: 'center' }}&gt;&#10;                    &lt;Text style={{ fontSize: 15, fontWeight: 'bold', color: '#F3E9D6', fontFamily: '&quot;PingFang SC&quot;, sans-serif' }}&gt;弦养对应内容&lt;/Text&gt;&#10;                &lt;/Box&gt;&#10;                &lt;Box style={{ flex: 1, paddingLeft: 18, justifyContent: 'center' }}&gt;&#10;                    &lt;Text style={{ fontSize: 15, fontWeight: 'bold', color: '#E9B85F', fontFamily: '&quot;PingFang SC&quot;, sans-serif' }}&gt;提交口径（如实标注）&lt;/Text&gt;&#10;                &lt;/Box&gt;&#10;            &lt;/Box&gt;&#10;            {[&#10;                { k: '五音疗愈音频 API/SDK', v: '五音基调、古琴音色、点 / 线 / 面音乐组织', d: '独立音层原型 + 接口封装方案；未交付独立 SDK' },&#10;                { k: 'AI 动作识别 API', v: '姿态关键点、八段锦判定、动作触发弦音', d: 'H5 内动作识别链路 + 接口契约；未交付独立服务 API' },&#10;                { k: '文化内核数字化', v: '五脏关联、五音配置、动作内容、授权信息', d: '文档关系、原型数据与后续统一配置模型' },&#10;                { k: '可插拔接入', v: '输入适配、动作事件、音频输出、场景层分离', d: '说明模块边界与接入步骤，不宣称多硬件已联调' },&#10;            ].map((r, i) =&gt; (&#10;                &lt;Box key={i} style={{ flexDirection: 'row', height: 62, borderTop: '1px solid #E3D6BC', background: i % 2 === 0 ? '#FFFFFF' : '#FAF4E6' }}&gt;&#10;                    &lt;Box style={{ width: 300, paddingLeft: 18, paddingRight: 12, justifyContent: 'center' }}&gt;&#10;                        &lt;Text style={{ fontSize: 16, fontWeight: 'bold', color: '#8F3F1F', fontFamily: '&quot;PingFang SC&quot;, sans-serif' }}&gt;{r.k}&lt;/Text&gt;&#10;                    &lt;/Box&gt;&#10;                    &lt;Box style={{ width: 400, paddingLeft: 18, paddingRight: 12, justifyContent: 'center' }}&gt;&#10;                        &lt;Text style={{ fontSize: 15, color: '#5C4E3C', fontFamily: '&quot;PingFang SC&quot;, sans-serif', lineHeight: 1.5 }}&gt;{r.v}&lt;/Text&gt;&#10;                    &lt;/Box&gt;&#10;                    &lt;Box style={{ flex: 1, paddingLeft: 18, paddingRight: 12, justifyContent: 'center' }}&gt;&#10;                        &lt;Text style={{ fontSize: 15, color: '#5C4E3C', fontFamily: '&quot;PingFang SC&quot;, sans-serif', lineHeight: 1.5 }}&gt;{r.d}&lt;/Text&gt;&#10;                    &lt;/Box&gt;&#10;                &lt;/Box&gt;&#10;            ))}&#10;        &lt;/Box&gt;&#10;        &lt;Box style={{ flex: 1, justifyContent: 'center', background: '#1E1710', borderRadius: 8, padding: '14px 22px' }}&gt;&#10;            &lt;Text style={{ fontSize: 15, color: '#C9A97E', fontFamily: '&quot;PingFang SC&quot;, sans-serif', lineHeight: 1.62 }}&gt;&#10;                诚实边界：AI 的实际作用是调用现有姿态模型得到关键点，再结合动作判定完成反馈；没有证据支持「自研基础模型」「AI 音疗处方系统已完成」等说法。是否达到验收要求，以最终提交包、演示证据与赛方审核为准。&#10;            &lt;/Text&gt;&#10;        &lt;/Box&gt;&#10;    &lt;/Box&gt;&#10;    &lt;Box style={{ height: 30, flexDirection: 'row', justifyContent: 'space-between', alignItems: 'flex-end' }}&gt;&#10;        &lt;Text style={{ fontSize: 14, color: '#A9977B', fontFamily: '&quot;PingFang SC&quot;, sans-serif' }}&gt;弦养 · 以身为琴，以动为弦&lt;/Text&gt;&#10;        &lt;Text style={{ fontSize: 14, color: '#A9977B', fontFamily: '&quot;PingFang SC&quot;, sans-serif' }}&gt;10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3E3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命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题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三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契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合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与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交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付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口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径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5829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41C14"/>
                </a:solidFill>
                <a:latin typeface="Songti SC"/>
                <a:ea typeface="Songti SC"/>
              </a:rPr>
              <a:t>可演示的系统原型，与诚实的交付口径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11087100" y="190500"/>
            <a:ext cx="419100" cy="4191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201400" y="285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85800" y="990600"/>
            <a:ext cx="10820400" cy="9525"/>
          </a:xfrm>
          <a:prstGeom prst="rect">
            <a:avLst/>
          </a:prstGeom>
          <a:solidFill>
            <a:srgbClr val="E3D6B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1152525"/>
            <a:ext cx="1304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命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题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列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举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方</a:t>
            </a:r>
            <a:r>
              <a:rPr lang="en-US" sz="1125" spc="150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552E"/>
                </a:solidFill>
                <a:latin typeface="PingFang SC"/>
                <a:ea typeface="PingFang SC"/>
              </a:rPr>
              <a:t>向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2105025" y="1162050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A5E"/>
                </a:solidFill>
                <a:latin typeface="PingFang SC"/>
                <a:ea typeface="PingFang SC"/>
              </a:rPr>
              <a:t>命题允许任选其一或组合；弦养选其中两项组合，成果按「系统原型」组织。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85800" y="1419225"/>
            <a:ext cx="1676400" cy="295275"/>
          </a:xfrm>
          <a:prstGeom prst="roundRect">
            <a:avLst>
              <a:gd name="adj" fmla="val 58065"/>
            </a:avLst>
          </a:prstGeom>
          <a:solidFill>
            <a:srgbClr val="B0552E"/>
          </a:solidFill>
          <a:ln w="12700">
            <a:solidFill>
              <a:srgbClr val="B0552E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19150" y="148590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EFD8"/>
                </a:solidFill>
                <a:latin typeface="PingFang SC"/>
                <a:ea typeface="PingFang SC"/>
              </a:rPr>
              <a:t>五音疗愈音频</a:t>
            </a:r>
            <a:r>
              <a:rPr lang="en-US" sz="1050" b="1">
                <a:solidFill>
                  <a:srgbClr val="FBEFD8"/>
                </a:solidFill>
                <a:latin typeface="PingFang SC"/>
                <a:ea typeface="PingFang SC"/>
              </a:rPr>
              <a:t xml:space="preserve"> API/SDK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2438400" y="1419225"/>
            <a:ext cx="1228725" cy="295275"/>
          </a:xfrm>
          <a:prstGeom prst="roundRect">
            <a:avLst>
              <a:gd name="adj" fmla="val 58065"/>
            </a:avLst>
          </a:prstGeom>
          <a:solidFill>
            <a:srgbClr val="B0552E"/>
          </a:solidFill>
          <a:ln w="12700">
            <a:solidFill>
              <a:srgbClr val="B0552E"/>
            </a:solidFill>
            <a:prstDash val="solid"/>
          </a:ln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2571750" y="14859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BEFD8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050" b="1">
                <a:solidFill>
                  <a:srgbClr val="FBEFD8"/>
                </a:solidFill>
                <a:latin typeface="PingFang SC"/>
                <a:ea typeface="PingFang SC"/>
              </a:rPr>
              <a:t>动作识别</a:t>
            </a:r>
            <a:r>
              <a:rPr lang="en-US" sz="1050" b="1">
                <a:solidFill>
                  <a:srgbClr val="FBEFD8"/>
                </a:solidFill>
                <a:latin typeface="PingFang SC"/>
                <a:ea typeface="PingFang SC"/>
              </a:rPr>
              <a:t xml:space="preserve"> API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3743325" y="1419225"/>
            <a:ext cx="1504950" cy="295275"/>
          </a:xfrm>
          <a:prstGeom prst="roundRect">
            <a:avLst>
              <a:gd name="adj" fmla="val 58065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876675" y="1485900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A6E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050">
                <a:solidFill>
                  <a:srgbClr val="9A8A6E"/>
                </a:solidFill>
                <a:latin typeface="PingFang SC"/>
                <a:ea typeface="PingFang SC"/>
              </a:rPr>
              <a:t>定制音疗处方系统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324475" y="1419225"/>
            <a:ext cx="1600200" cy="295275"/>
          </a:xfrm>
          <a:prstGeom prst="roundRect">
            <a:avLst>
              <a:gd name="adj" fmla="val 58065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457825" y="14859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A6E"/>
                </a:solidFill>
                <a:latin typeface="PingFang SC"/>
                <a:ea typeface="PingFang SC"/>
              </a:rPr>
              <a:t>子午流注控制协议模块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7000875" y="1419225"/>
            <a:ext cx="1466850" cy="295275"/>
          </a:xfrm>
          <a:prstGeom prst="roundRect">
            <a:avLst>
              <a:gd name="adj" fmla="val 58065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134225" y="14859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A6E"/>
                </a:solidFill>
                <a:latin typeface="PingFang SC"/>
                <a:ea typeface="PingFang SC"/>
              </a:rPr>
              <a:t>时辰化调理方案引擎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8543925" y="1419225"/>
            <a:ext cx="1838325" cy="295275"/>
          </a:xfrm>
          <a:prstGeom prst="roundRect">
            <a:avLst>
              <a:gd name="adj" fmla="val 58065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677275" y="148590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A6E"/>
                </a:solidFill>
                <a:latin typeface="PingFang SC"/>
                <a:ea typeface="PingFang SC"/>
              </a:rPr>
              <a:t>分体质阶梯功法训练</a:t>
            </a:r>
            <a:r>
              <a:rPr lang="en-US" sz="1050">
                <a:solidFill>
                  <a:srgbClr val="9A8A6E"/>
                </a:solidFill>
                <a:latin typeface="PingFang SC"/>
                <a:ea typeface="PingFang SC"/>
              </a:rPr>
              <a:t xml:space="preserve"> SaaS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85800" y="1790700"/>
            <a:ext cx="1200150" cy="295275"/>
          </a:xfrm>
          <a:prstGeom prst="roundRect">
            <a:avLst>
              <a:gd name="adj" fmla="val 58065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19150" y="18573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A6E"/>
                </a:solidFill>
                <a:latin typeface="PingFang SC"/>
                <a:ea typeface="PingFang SC"/>
              </a:rPr>
              <a:t>和香配方数据库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1962150" y="1790700"/>
            <a:ext cx="1323975" cy="295275"/>
          </a:xfrm>
          <a:prstGeom prst="roundRect">
            <a:avLst>
              <a:gd name="adj" fmla="val 58065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2095500" y="185737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A6E"/>
                </a:solidFill>
                <a:latin typeface="PingFang SC"/>
                <a:ea typeface="PingFang SC"/>
              </a:rPr>
              <a:t>智能香薰控制</a:t>
            </a:r>
            <a:r>
              <a:rPr lang="en-US" sz="1050">
                <a:solidFill>
                  <a:srgbClr val="9A8A6E"/>
                </a:solidFill>
                <a:latin typeface="PingFang SC"/>
                <a:ea typeface="PingFang SC"/>
              </a:rPr>
              <a:t xml:space="preserve"> API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3362325" y="1790700"/>
            <a:ext cx="1200150" cy="295275"/>
          </a:xfrm>
          <a:prstGeom prst="roundRect">
            <a:avLst>
              <a:gd name="adj" fmla="val 58065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495675" y="18573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A6E"/>
                </a:solidFill>
                <a:latin typeface="PingFang SC"/>
                <a:ea typeface="PingFang SC"/>
              </a:rPr>
              <a:t>节气食养内容库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638675" y="1790700"/>
            <a:ext cx="1457325" cy="295275"/>
          </a:xfrm>
          <a:prstGeom prst="roundRect">
            <a:avLst>
              <a:gd name="adj" fmla="val 58065"/>
            </a:avLst>
          </a:prstGeom>
          <a:solidFill>
            <a:srgbClr val="F7EEDC"/>
          </a:solidFill>
          <a:ln w="12700">
            <a:solidFill>
              <a:srgbClr val="DCCBA8"/>
            </a:solidFill>
            <a:prstDash val="solid"/>
          </a:ln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772025" y="18573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A6E"/>
                </a:solidFill>
                <a:latin typeface="PingFang SC"/>
                <a:ea typeface="PingFang SC"/>
              </a:rPr>
              <a:t>个性化食养推荐</a:t>
            </a:r>
            <a:r>
              <a:rPr lang="en-US" sz="1050">
                <a:solidFill>
                  <a:srgbClr val="9A8A6E"/>
                </a:solidFill>
                <a:latin typeface="PingFang SC"/>
                <a:ea typeface="PingFang SC"/>
              </a:rPr>
              <a:t xml:space="preserve"> API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85800" y="2219325"/>
            <a:ext cx="10820400" cy="2762250"/>
          </a:xfrm>
          <a:prstGeom prst="roundRect">
            <a:avLst>
              <a:gd name="adj" fmla="val 2759"/>
            </a:avLst>
          </a:prstGeom>
          <a:ln w="12700">
            <a:solidFill>
              <a:srgbClr val="E3D6BC"/>
            </a:solidFill>
            <a:prstDash val="solid"/>
          </a:ln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85800" y="2219325"/>
            <a:ext cx="10820400" cy="400050"/>
          </a:xfrm>
          <a:custGeom>
            <a:pathLst>
              <a:path w="1136" h="42">
                <a:moveTo>
                  <a:pt x="1128" y="0"/>
                </a:moveTo>
                <a:cubicBezTo>
                  <a:pt x="1133" y="0"/>
                  <a:pt x="1136" y="4"/>
                  <a:pt x="1136" y="8"/>
                </a:cubicBezTo>
                <a:lnTo>
                  <a:pt x="1136" y="42"/>
                </a:lnTo>
                <a:lnTo>
                  <a:pt x="0" y="42"/>
                </a:ln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lnTo>
                  <a:pt x="1128" y="0"/>
                </a:lnTo>
                <a:close/>
              </a:path>
            </a:pathLst>
          </a:custGeom>
          <a:solidFill>
            <a:srgbClr val="241C14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57250" y="2333625"/>
            <a:ext cx="2686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3E9D6"/>
                </a:solidFill>
                <a:latin typeface="PingFang SC"/>
                <a:ea typeface="PingFang SC"/>
              </a:rPr>
              <a:t>命题方向</a:t>
            </a:r>
            <a:r>
              <a:rPr lang="en-US" sz="1125" b="1">
                <a:solidFill>
                  <a:srgbClr val="F3E9D6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 b="1">
                <a:solidFill>
                  <a:srgbClr val="F3E9D6"/>
                </a:solidFill>
                <a:latin typeface="PingFang SC"/>
                <a:ea typeface="PingFang SC"/>
              </a:rPr>
              <a:t>要求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714750" y="2333625"/>
            <a:ext cx="3638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3E9D6"/>
                </a:solidFill>
                <a:latin typeface="PingFang SC"/>
                <a:ea typeface="PingFang SC"/>
              </a:rPr>
              <a:t>弦养对应内容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524750" y="2333625"/>
            <a:ext cx="398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9B85F"/>
                </a:solidFill>
                <a:latin typeface="PingFang SC"/>
                <a:ea typeface="PingFang SC"/>
              </a:rPr>
              <a:t>提交口径（如实标注）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85800" y="2628900"/>
            <a:ext cx="10820400" cy="5810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685800" y="2619375"/>
            <a:ext cx="10820400" cy="590550"/>
          </a:xfrm>
          <a:custGeom>
            <a:pathLst>
              <a:path w="1136" h="62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3D6BC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57250" y="2828925"/>
            <a:ext cx="257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8F3F1F"/>
                </a:solidFill>
                <a:latin typeface="PingFang SC"/>
                <a:ea typeface="PingFang SC"/>
              </a:rPr>
              <a:t>五音疗愈音频</a:t>
            </a:r>
            <a:r>
              <a:rPr lang="en-US" sz="1200" b="1">
                <a:solidFill>
                  <a:srgbClr val="8F3F1F"/>
                </a:solidFill>
                <a:latin typeface="PingFang SC"/>
                <a:ea typeface="PingFang SC"/>
              </a:rPr>
              <a:t xml:space="preserve"> API/SDK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714750" y="2790825"/>
            <a:ext cx="3524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五音基调、古琴音色、点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线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面音乐组织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524750" y="2790825"/>
            <a:ext cx="3867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独立音层原型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接口封装方案；未交付独立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SDK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85800" y="3219450"/>
            <a:ext cx="10820400" cy="581025"/>
          </a:xfrm>
          <a:prstGeom prst="rect">
            <a:avLst/>
          </a:prstGeom>
          <a:solidFill>
            <a:srgbClr val="FAF4E6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685800" y="3209925"/>
            <a:ext cx="10820400" cy="590550"/>
          </a:xfrm>
          <a:custGeom>
            <a:pathLst>
              <a:path w="1136" h="62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3D6BC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57250" y="3419475"/>
            <a:ext cx="257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F3F1F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00" b="1">
                <a:solidFill>
                  <a:srgbClr val="8F3F1F"/>
                </a:solidFill>
                <a:latin typeface="PingFang SC"/>
                <a:ea typeface="PingFang SC"/>
              </a:rPr>
              <a:t>动作识别</a:t>
            </a:r>
            <a:r>
              <a:rPr lang="en-US" sz="1200" b="1">
                <a:solidFill>
                  <a:srgbClr val="8F3F1F"/>
                </a:solidFill>
                <a:latin typeface="PingFang SC"/>
                <a:ea typeface="PingFang SC"/>
              </a:rPr>
              <a:t xml:space="preserve"> API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714750" y="3381375"/>
            <a:ext cx="3524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姿态关键点、八段锦判定、动作触发弦音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524750" y="3381375"/>
            <a:ext cx="3867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H5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内动作识别链路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接口契约；未交付独立服务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API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85800" y="3810000"/>
            <a:ext cx="10820400" cy="5810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685800" y="3800475"/>
            <a:ext cx="10820400" cy="590550"/>
          </a:xfrm>
          <a:custGeom>
            <a:pathLst>
              <a:path w="1136" h="62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3D6BC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57250" y="4010025"/>
            <a:ext cx="257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8F3F1F"/>
                </a:solidFill>
                <a:latin typeface="PingFang SC"/>
                <a:ea typeface="PingFang SC"/>
              </a:rPr>
              <a:t>文化内核数字化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714750" y="3971925"/>
            <a:ext cx="3524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五脏关联、五音配置、动作内容、授权信息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524750" y="3971925"/>
            <a:ext cx="3867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文档关系、原型数据与后续统一配置模型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85800" y="4400550"/>
            <a:ext cx="10820400" cy="581025"/>
          </a:xfrm>
          <a:custGeom>
            <a:pathLst>
              <a:path w="1136" h="61">
                <a:moveTo>
                  <a:pt x="1136" y="53"/>
                </a:moveTo>
                <a:cubicBezTo>
                  <a:pt x="1136" y="57"/>
                  <a:pt x="1132" y="61"/>
                  <a:pt x="1128" y="61"/>
                </a:cubicBezTo>
                <a:lnTo>
                  <a:pt x="8" y="61"/>
                </a:lnTo>
                <a:cubicBezTo>
                  <a:pt x="4" y="61"/>
                  <a:pt x="0" y="57"/>
                  <a:pt x="0" y="53"/>
                </a:cubicBezTo>
                <a:lnTo>
                  <a:pt x="0" y="0"/>
                </a:lnTo>
                <a:lnTo>
                  <a:pt x="1136" y="0"/>
                </a:lnTo>
                <a:close/>
              </a:path>
            </a:pathLst>
          </a:custGeom>
          <a:solidFill>
            <a:srgbClr val="FAF4E6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85800" y="4391025"/>
            <a:ext cx="10820400" cy="590550"/>
          </a:xfrm>
          <a:custGeom>
            <a:pathLst>
              <a:path w="1136" h="62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3D6BC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57250" y="4600575"/>
            <a:ext cx="257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8F3F1F"/>
                </a:solidFill>
                <a:latin typeface="PingFang SC"/>
                <a:ea typeface="PingFang SC"/>
              </a:rPr>
              <a:t>可插拔接入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714750" y="4562475"/>
            <a:ext cx="3524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输入适配、动作事件、音频输出、场景层分离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524750" y="4562475"/>
            <a:ext cx="3867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说明模块边界与接入步骤，不宣称多硬件已联调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85800" y="5114925"/>
            <a:ext cx="10820400" cy="1257300"/>
          </a:xfrm>
          <a:prstGeom prst="roundRect">
            <a:avLst>
              <a:gd name="adj" fmla="val 6061"/>
            </a:avLst>
          </a:prstGeom>
          <a:solidFill>
            <a:srgbClr val="1E1710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95350" y="5467350"/>
            <a:ext cx="104013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125">
                <a:solidFill>
                  <a:srgbClr val="C9A97E"/>
                </a:solidFill>
                <a:latin typeface="PingFang SC"/>
                <a:ea typeface="PingFang SC"/>
              </a:rPr>
              <a:t>诚实边界：</a:t>
            </a:r>
            <a:r>
              <a:rPr lang="en-US" sz="1125">
                <a:solidFill>
                  <a:srgbClr val="C9A97E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125">
                <a:solidFill>
                  <a:srgbClr val="C9A97E"/>
                </a:solidFill>
                <a:latin typeface="PingFang SC"/>
                <a:ea typeface="PingFang SC"/>
              </a:rPr>
              <a:t>的实际作用是调用现有姿态模型得到关键点，再结合动作判定完成反馈；没有证据支持「自研基础模型」「</a:t>
            </a:r>
            <a:r>
              <a:rPr lang="en-US" sz="1125">
                <a:solidFill>
                  <a:srgbClr val="C9A97E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125">
                <a:solidFill>
                  <a:srgbClr val="C9A97E"/>
                </a:solidFill>
                <a:latin typeface="PingFang SC"/>
                <a:ea typeface="PingFang SC"/>
              </a:rPr>
              <a:t>音疗处方系统已完成」等说法。是否达到验收要求，以最终提交包、演示证据与赛方审核为准。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077575" y="64960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72" name="" descr="&lt;Slide style={{ width: 1280, height: 720, background: '#FBF3E3', padding: '20px 72px', flexDirection: 'column' }}&gt;&#10;    &lt;Box style={{ height: 78, flexDirection: 'row', justifyContent: 'space-between', alignItems: 'flex-start' }}&gt;&#10;        &lt;Box style={{ flexDirection: 'column', gap: 6 }}&gt;&#10;            &lt;Text style={{ fontSize: 15, letterSpacing: 3, color: '#B0552E', fontFamily: '&quot;PingFang SC&quot;, sans-serif' }}&gt;核 心 优 势&lt;/Text&gt;&#10;            &lt;Text style={{ fontSize: 36, fontWeight: 'bold', color: '#241C14', fontFamily: '&quot;Songti SC&quot;,&quot;STSong&quot;,serif' }}&gt;四点优势，支撑命题三的完成度&lt;/Text&gt;&#10;        &lt;/Box&gt;&#10;        &lt;Box style={{ width: 44, height: 44, borderRadius: 4, background: 'linear-gradient(135deg,#C2543C 0%,#8F3F1F 100%)', justifyContent: 'center', alignItems: 'center' }}&gt;&#10;            &lt;Text style={{ fontSize: 20, color: '#FBEFD8', fontFamily: '&quot;Songti SC&quot;,serif', fontWeight: 'bold' }}&gt;弦&lt;/Text&gt;&#10;        &lt;/Box&gt;&#10;    &lt;/Box&gt;&#10;    &lt;Box style={{ height: 1, background: '#E3D6BC', marginTop: 6 }} /&gt;&#10;    &lt;Box style={{ flexDirection: 'row', gap: 30, marginTop: 20, height: 542 }}&gt;&#10;        &lt;Box style={{ width: 348, height: 542, background: '#F2E7D2', borderRadius: 8, padding: 26, flexDirection: 'column', justifyContent: 'space-between', boxShadow: '0 10px 28px rgba(60,40,20,0.10)' }}&gt;&#10;            &lt;Box style={{ flexDirection: 'column', gap: 11 }}&gt;&#10;                &lt;Text style={{ fontSize: 15, letterSpacing: 2, color: '#B08A3E', fontFamily: '&quot;PingFang SC&quot;, sans-serif' }}&gt;交 付 形 态&lt;/Text&gt;&#10;                &lt;Text style={{ fontSize: 23, fontWeight: 'bold', color: '#241C14', fontFamily: '&quot;Songti SC&quot;,serif', lineHeight: 1.4 }}&gt;系统原型 + 接入方案&lt;/Text&gt;&#10;                &lt;Text style={{ fontSize: 16, color: '#5C4E3C', fontFamily: '&quot;PingFang SC&quot;, sans-serif', lineHeight: 1.6 }}&gt;&#10;                    交付三件套，由同一套文化配置与动作事件贯穿：&#10;                &lt;/Text&gt;&#10;                &lt;Box style={{ flexDirection: 'column', gap: 10 }}&gt;&#10;                    {[&#10;                        { n: '01', t: 'H5 身心疗愈系统原型', d: '含动作识别与服务资源' },&#10;                        { n: '02', t: '独立音层原型', d: '点 / 线 / 面与五音短句' },&#10;                        { n: '03', t: '模块接入方案', d: '接口契约与插拔步骤' },&#10;                    ].map((x, i) =&gt; (&#10;                        &lt;Box key={i} style={{ flexDirection: 'row', gap: 12, alignItems: 'flex-start' }}&gt;&#10;                            &lt;Text style={{ fontSize: 16, fontWeight: 'bold', color: '#B0552E', fontFamily: '&quot;Songti SC&quot;,serif', lineHeight: 1.2 }}&gt;{x.n}&lt;/Text&gt;&#10;                            &lt;Box style={{ flex: 1, flexDirection: 'column', gap: 3 }}&gt;&#10;                                &lt;Text style={{ fontSize: 16, fontWeight: 'bold', color: '#241C14', fontFamily: '&quot;PingFang SC&quot;, sans-serif', lineHeight: 1.3 }}&gt;{x.t}&lt;/Text&gt;&#10;                                &lt;Text style={{ fontSize: 14, color: '#7C6B54', fontFamily: '&quot;PingFang SC&quot;, sans-serif', lineHeight: 1.3 }}&gt;{x.d}&lt;/Text&gt;&#10;                            &lt;/Box&gt;&#10;                        &lt;/Box&gt;&#10;                    ))}&#10;                &lt;/Box&gt;&#10;                &lt;Text style={{ fontSize: 14, color: '#7C6B54', fontFamily: '&quot;PingFang SC&quot;, sans-serif', lineHeight: 1.6 }}&gt;&#10;                    当前未交付可被第三方直接安装调用的独立通用 API 服务或 SDK 包；拟封装接口须在拆包、接线与设备测试之后方可称为已发布。&#10;                &lt;/Text&gt;&#10;            &lt;/Box&gt;&#10;            &lt;Box style={{ flexDirection: 'column', gap: 10, borderTop: '2px solid #C9A97E', paddingTop: 16 }}&gt;&#10;                &lt;Text style={{ fontSize: 18, color: '#8F3F1F', fontFamily: '&quot;PingFang SC&quot;, sans-serif', lineHeight: 1.66, fontWeight: 'bold' }}&gt;&#10;                    成果按「系统原型」组织，比命名为已完成的通用 API / SDK 更准确。&#10;                &lt;/Text&gt;&#10;            &lt;/Box&gt;&#10;        &lt;/Box&gt;&#10;        &lt;Box style={{ flex: 1, flexDirection: 'column', gap: 11 }}&gt;&#10;            {[&#10;                { icon: 'book', c: '#B0552E', t: '文化有纵深', d: '五音—五脏—八段锦构成产品内部脉络，典籍可溯（《黄帝内经 · 素问》），不是贴标签。' },&#10;                { icon: 'heart', c: '#C2543C', t: '交互是真实的身体参与', d: '不是被动听曲：动作触发弦音，听觉与身体共同参与同一段体验，反馈即刻可闻。' },&#10;                { icon: 'music', c: '#B08A3E', t: '声音可复现', d: '物理发声模型合成，一至七弦同一条算法、同一组定弦，每个听见的效果都有可测量来源。' },&#10;                { icon: 'cubes', c: '#6E8F7C', t: '工程可插拔', d: '姿态输入、动作判定、音频、场景分层解耦，文化配置与识别器分离，便于替换升级。' },&#10;            ].map((x, i) =&gt; (&#10;                &lt;Box key={i} style={{ flexDirection: 'row', gap: 18, alignItems: 'flex-start', background: '#FFFFFF', borderRadius: 8, padding: '13px 18px', border: '1px solid #EFE3CC' }}&gt;&#10;                    &lt;Box style={{ width: 48, height: 48, borderRadius: 12, background: '#F6ECDC', justifyContent: 'center', alignItems: 'center' }}&gt;&#10;                        &lt;FAIcon name={x.icon} style={{ fill: x.c, width: 26, height: 26 }} /&gt;&#10;                    &lt;/Box&gt;&#10;                    &lt;Box style={{ flex: 1, flexDirection: 'column', gap: 4 }}&gt;&#10;                        &lt;Text style={{ fontSize: 19, fontWeight: 'bold', color: '#241C14', fontFamily: '&quot;PingFang SC&quot;, sans-serif' }}&gt;{x.t}&lt;/Text&gt;&#10;                        &lt;Text style={{ fontSize: 15, color: '#5C4E3C', fontFamily: '&quot;PingFang SC&quot;, sans-serif', lineHeight: 1.55 }}&gt;{x.d}&lt;/Text&gt;&#10;                    &lt;/Box&gt;&#10;                &lt;/Box&gt;&#10;            ))}&#10;            &lt;Box style={{ flex: 1, justifyContent: 'center', background: '#1E1710', borderRadius: 8, padding: 16 }}&gt;&#10;                &lt;Text style={{ fontSize: 16, color: '#C9A97E', fontFamily: '&quot;PingFang SC&quot;, sans-serif', lineHeight: 1.62 }}&gt;&#10;                    诚实边界：不以接口命名或未来场景替代实际完成证据；没有证据支持「自研基础模型」「AI 音疗处方系统已完成」等说法。&#10;                &lt;/Text&gt;&#10;            &lt;/Box&gt;&#10;        &lt;/Box&gt;&#10;    &lt;/Box&gt;&#10;    &lt;Box style={{ height: 30, flexDirection: 'row', justifyContent: 'space-between', alignItems: 'flex-end' }}&gt;&#10;        &lt;Text style={{ fontSize: 14, color: '#A9977B', fontFamily: '&quot;PingFang SC&quot;, sans-serif' }}&gt;弦养 · 以身为琴，以动为弦&lt;/Text&gt;&#10;        &lt;Text style={{ fontSize: 14, color: '#A9977B', fontFamily: '&quot;PingFang SC&quot;, sans-serif' }}&gt;11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3E3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480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核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心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优</a:t>
            </a:r>
            <a:r>
              <a:rPr lang="en-US" sz="1125" spc="225">
                <a:solidFill>
                  <a:srgbClr val="B0552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225">
                <a:solidFill>
                  <a:srgbClr val="B0552E"/>
                </a:solidFill>
                <a:latin typeface="PingFang SC"/>
                <a:ea typeface="PingFang SC"/>
              </a:rPr>
              <a:t>势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4800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41C14"/>
                </a:solidFill>
                <a:latin typeface="Songti SC"/>
                <a:ea typeface="Songti SC"/>
              </a:rPr>
              <a:t>四点优势，支撑命题三的完成度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11087100" y="190500"/>
            <a:ext cx="419100" cy="4191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201400" y="285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85800" y="990600"/>
            <a:ext cx="10820400" cy="9525"/>
          </a:xfrm>
          <a:prstGeom prst="rect">
            <a:avLst/>
          </a:prstGeom>
          <a:solidFill>
            <a:srgbClr val="E3D6BC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685800" y="1190625"/>
            <a:ext cx="3314700" cy="5162550"/>
          </a:xfrm>
          <a:prstGeom prst="roundRect">
            <a:avLst>
              <a:gd name="adj" fmla="val 2299"/>
            </a:avLst>
          </a:prstGeom>
          <a:solidFill>
            <a:srgbClr val="F2E7D2"/>
          </a:solidFill>
          <a:ln/>
          <a:effectLst>
            <a:outerShdw blurRad="266700" dist="95250" dir="5400000">
              <a:srgbClr val="3C2814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33450" y="143827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交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付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形</a:t>
            </a:r>
            <a:r>
              <a:rPr lang="en-US" sz="1125" spc="150">
                <a:solidFill>
                  <a:srgbClr val="B08A3E"/>
                </a:solidFill>
                <a:latin typeface="PingFang SC"/>
                <a:ea typeface="PingFang SC"/>
              </a:rPr>
              <a:t xml:space="preserve"> </a:t>
            </a:r>
            <a:r>
              <a:rPr lang="zh-CN" sz="1125" spc="150">
                <a:solidFill>
                  <a:srgbClr val="B08A3E"/>
                </a:solidFill>
                <a:latin typeface="PingFang SC"/>
                <a:ea typeface="PingFang SC"/>
              </a:rPr>
              <a:t>态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33450" y="1714500"/>
            <a:ext cx="2819400" cy="3714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725" b="1">
                <a:solidFill>
                  <a:srgbClr val="241C14"/>
                </a:solidFill>
                <a:latin typeface="Songti SC"/>
                <a:ea typeface="Songti SC"/>
              </a:rPr>
              <a:t>系统原型</a:t>
            </a:r>
            <a:r>
              <a:rPr lang="en-US" sz="1725" b="1">
                <a:solidFill>
                  <a:srgbClr val="241C14"/>
                </a:solidFill>
                <a:latin typeface="Songti SC"/>
                <a:ea typeface="Songti SC"/>
              </a:rPr>
              <a:t xml:space="preserve"> + </a:t>
            </a:r>
            <a:r>
              <a:rPr lang="zh-CN" sz="1725" b="1">
                <a:solidFill>
                  <a:srgbClr val="241C14"/>
                </a:solidFill>
                <a:latin typeface="Songti SC"/>
                <a:ea typeface="Songti SC"/>
              </a:rPr>
              <a:t>接入方案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33450" y="2190750"/>
            <a:ext cx="2819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C4E3C"/>
                </a:solidFill>
                <a:latin typeface="PingFang SC"/>
                <a:ea typeface="PingFang SC"/>
              </a:rPr>
              <a:t>交付三件套，由同一套文化配置与动作事件贯穿：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33450" y="2886075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B0552E"/>
                </a:solidFill>
                <a:latin typeface="Songti SC"/>
                <a:ea typeface="Songti SC"/>
              </a:rPr>
              <a:t>01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200150" y="2886075"/>
            <a:ext cx="25527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241C14"/>
                </a:solidFill>
                <a:latin typeface="PingFang SC"/>
                <a:ea typeface="PingFang SC"/>
              </a:rPr>
              <a:t xml:space="preserve">H5 </a:t>
            </a:r>
            <a:r>
              <a:rPr lang="zh-CN" sz="1200" b="1">
                <a:solidFill>
                  <a:srgbClr val="241C14"/>
                </a:solidFill>
                <a:latin typeface="PingFang SC"/>
                <a:ea typeface="PingFang SC"/>
              </a:rPr>
              <a:t>身心疗愈系统原型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200150" y="3152775"/>
            <a:ext cx="25527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7C6B54"/>
                </a:solidFill>
                <a:latin typeface="PingFang SC"/>
                <a:ea typeface="PingFang SC"/>
              </a:rPr>
              <a:t>含动作识别与服务资源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33450" y="3457575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B0552E"/>
                </a:solidFill>
                <a:latin typeface="Songti SC"/>
                <a:ea typeface="Songti SC"/>
              </a:rPr>
              <a:t>02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200150" y="3457575"/>
            <a:ext cx="25527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41C14"/>
                </a:solidFill>
                <a:latin typeface="PingFang SC"/>
                <a:ea typeface="PingFang SC"/>
              </a:rPr>
              <a:t>独立音层原型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200150" y="3724275"/>
            <a:ext cx="25527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7C6B54"/>
                </a:solidFill>
                <a:latin typeface="PingFang SC"/>
                <a:ea typeface="PingFang SC"/>
              </a:rPr>
              <a:t>点</a:t>
            </a:r>
            <a:r>
              <a:rPr lang="en-US" sz="1050">
                <a:solidFill>
                  <a:srgbClr val="7C6B54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050">
                <a:solidFill>
                  <a:srgbClr val="7C6B54"/>
                </a:solidFill>
                <a:latin typeface="PingFang SC"/>
                <a:ea typeface="PingFang SC"/>
              </a:rPr>
              <a:t>线</a:t>
            </a:r>
            <a:r>
              <a:rPr lang="en-US" sz="1050">
                <a:solidFill>
                  <a:srgbClr val="7C6B54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050">
                <a:solidFill>
                  <a:srgbClr val="7C6B54"/>
                </a:solidFill>
                <a:latin typeface="PingFang SC"/>
                <a:ea typeface="PingFang SC"/>
              </a:rPr>
              <a:t>面与五音短句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33450" y="4029075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B0552E"/>
                </a:solidFill>
                <a:latin typeface="Songti SC"/>
                <a:ea typeface="Songti SC"/>
              </a:rPr>
              <a:t>03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200150" y="4029075"/>
            <a:ext cx="25527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41C14"/>
                </a:solidFill>
                <a:latin typeface="PingFang SC"/>
                <a:ea typeface="PingFang SC"/>
              </a:rPr>
              <a:t>模块接入方案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200150" y="4295775"/>
            <a:ext cx="255270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050">
                <a:solidFill>
                  <a:srgbClr val="7C6B54"/>
                </a:solidFill>
                <a:latin typeface="PingFang SC"/>
                <a:ea typeface="PingFang SC"/>
              </a:rPr>
              <a:t>接口契约与插拔步骤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33450" y="4610100"/>
            <a:ext cx="28194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7C6B54"/>
                </a:solidFill>
                <a:latin typeface="PingFang SC"/>
                <a:ea typeface="PingFang SC"/>
              </a:rPr>
              <a:t>当前未交付可被第三方直接安装调用的独立通用</a:t>
            </a:r>
            <a:r>
              <a:rPr lang="en-US" sz="1050">
                <a:solidFill>
                  <a:srgbClr val="7C6B54"/>
                </a:solidFill>
                <a:latin typeface="PingFang SC"/>
                <a:ea typeface="PingFang SC"/>
              </a:rPr>
              <a:t xml:space="preserve"> API </a:t>
            </a:r>
            <a:r>
              <a:rPr lang="zh-CN" sz="1050">
                <a:solidFill>
                  <a:srgbClr val="7C6B54"/>
                </a:solidFill>
                <a:latin typeface="PingFang SC"/>
                <a:ea typeface="PingFang SC"/>
              </a:rPr>
              <a:t>服务或</a:t>
            </a:r>
            <a:r>
              <a:rPr lang="en-US" sz="1050">
                <a:solidFill>
                  <a:srgbClr val="7C6B54"/>
                </a:solidFill>
                <a:latin typeface="PingFang SC"/>
                <a:ea typeface="PingFang SC"/>
              </a:rPr>
              <a:t xml:space="preserve"> SDK </a:t>
            </a:r>
            <a:r>
              <a:rPr lang="zh-CN" sz="1050">
                <a:solidFill>
                  <a:srgbClr val="7C6B54"/>
                </a:solidFill>
                <a:latin typeface="PingFang SC"/>
                <a:ea typeface="PingFang SC"/>
              </a:rPr>
              <a:t>包；拟封装接口须在拆包、接线与设备测试之后方可称为已发布。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933450" y="5381625"/>
            <a:ext cx="2819400" cy="876300"/>
          </a:xfrm>
          <a:custGeom>
            <a:pathLst>
              <a:path w="296" h="92">
                <a:moveTo>
                  <a:pt x="0" y="0"/>
                </a:moveTo>
                <a:lnTo>
                  <a:pt x="296" y="0"/>
                </a:lnTo>
                <a:lnTo>
                  <a:pt x="296" y="2"/>
                </a:lnTo>
                <a:lnTo>
                  <a:pt x="0" y="2"/>
                </a:lnTo>
                <a:close/>
              </a:path>
            </a:pathLst>
          </a:custGeom>
          <a:solidFill>
            <a:srgbClr val="C9A97E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33450" y="5553075"/>
            <a:ext cx="28194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6000"/>
              </a:lnSpc>
            </a:pPr>
            <a:r>
              <a:rPr lang="zh-CN" sz="1350" b="1">
                <a:solidFill>
                  <a:srgbClr val="8F3F1F"/>
                </a:solidFill>
                <a:latin typeface="PingFang SC"/>
                <a:ea typeface="PingFang SC"/>
              </a:rPr>
              <a:t>成果按「系统原型」组织，比命名为已完成的通用</a:t>
            </a:r>
            <a:r>
              <a:rPr lang="en-US" sz="1350" b="1">
                <a:solidFill>
                  <a:srgbClr val="8F3F1F"/>
                </a:solidFill>
                <a:latin typeface="PingFang SC"/>
                <a:ea typeface="PingFang SC"/>
              </a:rPr>
              <a:t xml:space="preserve"> API / SDK </a:t>
            </a:r>
            <a:r>
              <a:rPr lang="zh-CN" sz="1350" b="1">
                <a:solidFill>
                  <a:srgbClr val="8F3F1F"/>
                </a:solidFill>
                <a:latin typeface="PingFang SC"/>
                <a:ea typeface="PingFang SC"/>
              </a:rPr>
              <a:t>更准确。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286250" y="1190625"/>
            <a:ext cx="72199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FE3CC"/>
            </a:solidFill>
            <a:prstDash val="solid"/>
          </a:ln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4457700" y="13144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6ECDC"/>
          </a:solidFill>
          <a:ln/>
        </p:spPr>
        <p:txBody>
          <a:bodyPr/>
          <a:p/>
        </p:txBody>
      </p:sp>
      <p:pic>
        <p:nvPicPr>
          <p:cNvPr id="97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62475" y="1419225"/>
            <a:ext cx="247650" cy="247650"/>
          </a:xfrm>
          <a:prstGeom prst="rect">
            <a:avLst/>
          </a:prstGeom>
          <a:ln/>
        </p:spPr>
      </p:pic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086350" y="1314450"/>
            <a:ext cx="6248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41C14"/>
                </a:solidFill>
                <a:latin typeface="PingFang SC"/>
                <a:ea typeface="PingFang SC"/>
              </a:rPr>
              <a:t>文化有纵深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086350" y="1571625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五音—五脏—八段锦构成产品内部脉络，典籍可溯（《黄帝内经</a:t>
            </a:r>
            <a:r>
              <a:rPr lang="en-US" sz="1125">
                <a:solidFill>
                  <a:srgbClr val="5C4E3C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素问》），不是贴标签。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4286250" y="2066925"/>
            <a:ext cx="72199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FE3CC"/>
            </a:solidFill>
            <a:prstDash val="solid"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4457700" y="2190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6ECDC"/>
          </a:solidFill>
          <a:ln/>
        </p:spPr>
        <p:txBody>
          <a:bodyPr/>
          <a:p/>
        </p:txBody>
      </p:sp>
      <p:pic>
        <p:nvPicPr>
          <p:cNvPr id="102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62475" y="2295525"/>
            <a:ext cx="247650" cy="247650"/>
          </a:xfrm>
          <a:prstGeom prst="rect">
            <a:avLst/>
          </a:prstGeom>
          <a:ln/>
        </p:spPr>
      </p:pic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086350" y="2190750"/>
            <a:ext cx="6248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41C14"/>
                </a:solidFill>
                <a:latin typeface="PingFang SC"/>
                <a:ea typeface="PingFang SC"/>
              </a:rPr>
              <a:t>交互是真实的身体参与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086350" y="2447925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不是被动听曲：动作触发弦音，听觉与身体共同参与同一段体验，反馈即刻可闻。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4286250" y="2943225"/>
            <a:ext cx="72199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FE3CC"/>
            </a:solidFill>
            <a:prstDash val="solid"/>
          </a:ln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4457700" y="30670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6ECDC"/>
          </a:solidFill>
          <a:ln/>
        </p:spPr>
        <p:txBody>
          <a:bodyPr/>
          <a:p/>
        </p:txBody>
      </p:sp>
      <p:pic>
        <p:nvPicPr>
          <p:cNvPr id="107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62475" y="3171825"/>
            <a:ext cx="247650" cy="24765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086350" y="3067050"/>
            <a:ext cx="6248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41C14"/>
                </a:solidFill>
                <a:latin typeface="PingFang SC"/>
                <a:ea typeface="PingFang SC"/>
              </a:rPr>
              <a:t>声音可复现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086350" y="3324225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物理发声模型合成，一至七弦同一条算法、同一组定弦，每个听见的效果都有可测量来源。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286250" y="3819525"/>
            <a:ext cx="72199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FE3CC"/>
            </a:solidFill>
            <a:prstDash val="solid"/>
          </a:ln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4457700" y="39433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6ECDC"/>
          </a:solidFill>
          <a:ln/>
        </p:spPr>
        <p:txBody>
          <a:bodyPr/>
          <a:p/>
        </p:txBody>
      </p:sp>
      <p:pic>
        <p:nvPicPr>
          <p:cNvPr id="112" name="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62475" y="4048125"/>
            <a:ext cx="247650" cy="247650"/>
          </a:xfrm>
          <a:prstGeom prst="rect">
            <a:avLst/>
          </a:prstGeom>
          <a:ln/>
        </p:spPr>
      </p:pic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086350" y="3943350"/>
            <a:ext cx="6248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41C14"/>
                </a:solidFill>
                <a:latin typeface="PingFang SC"/>
                <a:ea typeface="PingFang SC"/>
              </a:rPr>
              <a:t>工程可插拔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086350" y="4200525"/>
            <a:ext cx="6248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C4E3C"/>
                </a:solidFill>
                <a:latin typeface="PingFang SC"/>
                <a:ea typeface="PingFang SC"/>
              </a:rPr>
              <a:t>姿态输入、动作判定、音频、场景分层解耦，文化配置与识别器分离，便于替换升级。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4286250" y="4695825"/>
            <a:ext cx="7219950" cy="1657350"/>
          </a:xfrm>
          <a:prstGeom prst="roundRect">
            <a:avLst>
              <a:gd name="adj" fmla="val 4598"/>
            </a:avLst>
          </a:prstGeom>
          <a:solidFill>
            <a:srgbClr val="1E1710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438650" y="5229225"/>
            <a:ext cx="69151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00">
                <a:solidFill>
                  <a:srgbClr val="C9A97E"/>
                </a:solidFill>
                <a:latin typeface="PingFang SC"/>
                <a:ea typeface="PingFang SC"/>
              </a:rPr>
              <a:t>诚实边界：不以接口命名或未来场景替代实际完成证据；没有证据支持「自研基础模型」「</a:t>
            </a:r>
            <a:r>
              <a:rPr lang="en-US" sz="1200">
                <a:solidFill>
                  <a:srgbClr val="C9A97E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00">
                <a:solidFill>
                  <a:srgbClr val="C9A97E"/>
                </a:solidFill>
                <a:latin typeface="PingFang SC"/>
                <a:ea typeface="PingFang SC"/>
              </a:rPr>
              <a:t>音疗处方系统已完成」等说法。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85800" y="647700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A9977B"/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106150" y="64770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977B"/>
                </a:solidFill>
                <a:latin typeface="PingFang SC"/>
                <a:ea typeface="PingFang SC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19" name="" descr="&lt;Slide style={{ width: 1280, height: 720, background: 'linear-gradient(160deg,#241C14 0%,#15100B 100%)', padding: '20px 72px', flexDirection: 'column', justifyContent: 'center', alignItems: 'center' }}&gt;&#10;    &lt;Animation animType=&quot;fadeIn&quot; duration={700}&gt;&#10;        &lt;Box style={{ width: 1136, height: 172, justifyContent: 'center', alignItems: 'center' }}&gt;&#10;            &lt;svg width='1136' height='172' viewBox='0 0 1136 172'&gt;&#10;                &lt;g fill='none' stroke='#E9B85F'&gt;&#10;                    &lt;path d='M468 166 A100 100 0 0 1 668 166' strokeOpacity='0.85' strokeWidth='2.5' /&gt;&#10;                    &lt;path d='M408 166 A160 160 0 0 1 728 166' strokeOpacity='0.5' strokeWidth='2' /&gt;&#10;                    &lt;path d='M348 166 A220 220 0 0 1 788 166' strokeOpacity='0.3' strokeWidth='1.8' /&gt;&#10;                    &lt;path d='M288 166 A280 280 0 0 1 848 166' strokeOpacity='0.16' strokeWidth='1.4' /&gt;&#10;                &lt;/g&gt;&#10;                &lt;circle cx='568' cy='166' r='7' fill='#E9B85F' /&gt;&#10;            &lt;/svg&gt;&#10;        &lt;/Box&gt;&#10;    &lt;/Animation&gt;&#10;    &lt;Animation animType=&quot;fadeIn&quot; startType=&quot;afterPrevious&quot; duration={700}&gt;&#10;        &lt;Box style={{ flexDirection: 'column', alignItems: 'center', gap: 20, marginTop: 6 }}&gt;&#10;            &lt;Text style={{ fontSize: 30, color: '#E4D9C0', fontFamily: '&quot;Songti SC&quot;,&quot;STSong&quot;,serif', letterSpacing: 2, lineHeight: 1.5, textAlign: 'center' }}&gt;五音是起点与脉络 · 五脏是串联逻辑&lt;/Text&gt;&#10;            &lt;Text style={{ fontSize: 30, color: '#E4D9C0', fontFamily: '&quot;Songti SC&quot;,&quot;STSong&quot;,serif', letterSpacing: 2, lineHeight: 1.5, textAlign: 'center' }}&gt;古琴是声音载体 · 八段锦是身体实践&lt;/Text&gt;&#10;            &lt;Text style={{ fontSize: 52, fontWeight: 'bold', fontFamily: '&quot;Songti SC&quot;,&quot;STSong&quot;,serif', letterSpacing: 2, textAlign: 'center', backgroundImage: 'linear-gradient(135deg,#E9B85F 0%,#B0552E 100%)', backgroundClip: 'text', color: 'transparent', marginTop: 8 }}&gt;动作识别，让身体得到可听见的回应&lt;/Text&gt;&#10;        &lt;/Box&gt;&#10;    &lt;/Animation&gt;&#10;    &lt;Animation animType=&quot;fadeIn&quot; startType=&quot;afterPrevious&quot; duration={600}&gt;&#10;        &lt;Box style={{ flexDirection: 'column', alignItems: 'center', gap: 16, marginTop: 40 }}&gt;&#10;            &lt;Box style={{ width: 60, height: 1, background: 'rgba(201,169,126,0.5)' }} /&gt;&#10;            &lt;Text style={{ fontSize: 24, color: '#FBF3E3', fontFamily: '&quot;Songti SC&quot;,&quot;STSong&quot;,serif', letterSpacing: 4 }}&gt;弦养 · 以身为琴，以动为弦&lt;/Text&gt;&#10;            &lt;Text style={{ fontSize: 16, color: '#8E8069', fontFamily: '&quot;PingFang SC&quot;, sans-serif', letterSpacing: 1 }}&gt;命题三：OPC 时代身心疗愈五大核心赛道&lt;/Text&gt;&#10;            &lt;Text style={{ fontSize: 15, color: '#C9A97E', fontFamily: '&quot;PingFang SC&quot;, sans-serif', letterSpacing: 1 }}&gt;以系统原型证明核心体验 · 以模块边界说明 API / SDK 封装方向&lt;/Text&gt;&#10;            &lt;Animation animType=&quot;pulse&quot; delay={400}&gt;&#10;                &lt;Box style={{ width: 52, height: 52, borderRadius: 5, background: 'linear-gradient(135deg,#C2543C 0%,#8F3F1F 100%)', justifyContent: 'center', alignItems: 'center', marginTop: 6 }}&gt;&#10;                    &lt;Text style={{ fontSize: 24, color: '#FBEFD8', fontFamily: '&quot;Songti SC&quot;,serif', fontWeight: 'bold' }}&gt;弦&lt;/Text&gt;&#10;                &lt;/Box&gt;&#10;            &lt;/Animation&gt;&#10;        &lt;/Box&gt;&#10;    &lt;/Animation&gt;&#10;    &lt;Text style={{ position: 'absolute', top: 664, left: 72, fontSize: 14, color: 'rgba(201,169,126,0.6)', fontFamily: '&quot;PingFang SC&quot;, sans-serif' }}&gt;弦养 · 以身为琴，以动为弦&lt;/Text&gt;&#10;    &lt;Text style={{ position: 'absolute', top: 664, left: 1180, fontSize: 14, color: 'rgba(201,169,126,0.6)', fontFamily: '&quot;PingFang SC&quot;, sans-serif' }}&gt;12 / 1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41C14"/>
              </a:gs>
              <a:gs pos="100000">
                <a:srgbClr val="15100B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121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447675"/>
            <a:ext cx="10820400" cy="163830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571875" y="2143125"/>
            <a:ext cx="5057775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2250" spc="150">
                <a:solidFill>
                  <a:srgbClr val="E4D9C0"/>
                </a:solidFill>
                <a:latin typeface="Songti SC"/>
                <a:ea typeface="Songti SC"/>
              </a:rPr>
              <a:t>五音是起点与脉络</a:t>
            </a:r>
            <a:r>
              <a:rPr lang="en-US" sz="2250" spc="150">
                <a:solidFill>
                  <a:srgbClr val="E4D9C0"/>
                </a:solidFill>
                <a:latin typeface="Songti SC"/>
                <a:ea typeface="Songti SC"/>
              </a:rPr>
              <a:t xml:space="preserve"> · </a:t>
            </a:r>
            <a:r>
              <a:rPr lang="zh-CN" sz="2250" spc="150">
                <a:solidFill>
                  <a:srgbClr val="E4D9C0"/>
                </a:solidFill>
                <a:latin typeface="Songti SC"/>
                <a:ea typeface="Songti SC"/>
              </a:rPr>
              <a:t>五脏是串联逻辑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571875" y="2847975"/>
            <a:ext cx="5057775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2250" spc="150">
                <a:solidFill>
                  <a:srgbClr val="E4D9C0"/>
                </a:solidFill>
                <a:latin typeface="Songti SC"/>
                <a:ea typeface="Songti SC"/>
              </a:rPr>
              <a:t>古琴是声音载体</a:t>
            </a:r>
            <a:r>
              <a:rPr lang="en-US" sz="2250" spc="150">
                <a:solidFill>
                  <a:srgbClr val="E4D9C0"/>
                </a:solidFill>
                <a:latin typeface="Songti SC"/>
                <a:ea typeface="Songti SC"/>
              </a:rPr>
              <a:t xml:space="preserve"> · </a:t>
            </a:r>
            <a:r>
              <a:rPr lang="zh-CN" sz="2250" spc="150">
                <a:solidFill>
                  <a:srgbClr val="E4D9C0"/>
                </a:solidFill>
                <a:latin typeface="Songti SC"/>
                <a:ea typeface="Songti SC"/>
              </a:rPr>
              <a:t>八段锦是身体实践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981200" y="3629025"/>
            <a:ext cx="8229600" cy="600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900" b="1" spc="150">
                <a:gradFill>
                  <a:gsLst>
                    <a:gs pos="0">
                      <a:srgbClr val="E9B85F"/>
                    </a:gs>
                    <a:gs pos="100000">
                      <a:srgbClr val="B0552E"/>
                    </a:gs>
                  </a:gsLst>
                  <a:lin ang="2700000" scaled="1"/>
                </a:gradFill>
                <a:latin typeface="Songti SC"/>
                <a:ea typeface="Songti SC"/>
              </a:rPr>
              <a:t>动作识别，让身体得到可听见的回应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819775" y="4610100"/>
            <a:ext cx="571500" cy="9525"/>
          </a:xfrm>
          <a:prstGeom prst="rect">
            <a:avLst/>
          </a:prstGeom>
          <a:solidFill>
            <a:srgbClr val="C9A97E">
              <a:alpha val="50000"/>
            </a:srgbClr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410075" y="4772025"/>
            <a:ext cx="3390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300">
                <a:solidFill>
                  <a:srgbClr val="FBF3E3"/>
                </a:solidFill>
                <a:latin typeface="Songti SC"/>
                <a:ea typeface="Songti SC"/>
              </a:rPr>
              <a:t>弦养</a:t>
            </a:r>
            <a:r>
              <a:rPr lang="en-US" sz="1800" spc="300">
                <a:solidFill>
                  <a:srgbClr val="FBF3E3"/>
                </a:solidFill>
                <a:latin typeface="Songti SC"/>
                <a:ea typeface="Songti SC"/>
              </a:rPr>
              <a:t xml:space="preserve"> · </a:t>
            </a:r>
            <a:r>
              <a:rPr lang="zh-CN" sz="1800" spc="300">
                <a:solidFill>
                  <a:srgbClr val="FBF3E3"/>
                </a:solidFill>
                <a:latin typeface="Songti SC"/>
                <a:ea typeface="Songti SC"/>
              </a:rPr>
              <a:t>以身为琴，以动为弦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600575" y="5200650"/>
            <a:ext cx="300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8E8069"/>
                </a:solidFill>
                <a:latin typeface="PingFang SC"/>
                <a:ea typeface="PingFang SC"/>
              </a:rPr>
              <a:t>命题三：</a:t>
            </a:r>
            <a:r>
              <a:rPr lang="en-US" sz="1200" spc="75">
                <a:solidFill>
                  <a:srgbClr val="8E8069"/>
                </a:solidFill>
                <a:latin typeface="PingFang SC"/>
                <a:ea typeface="PingFang SC"/>
              </a:rPr>
              <a:t xml:space="preserve">OPC </a:t>
            </a:r>
            <a:r>
              <a:rPr lang="zh-CN" sz="1200" spc="75">
                <a:solidFill>
                  <a:srgbClr val="8E8069"/>
                </a:solidFill>
                <a:latin typeface="PingFang SC"/>
                <a:ea typeface="PingFang SC"/>
              </a:rPr>
              <a:t>时代身心疗愈五大核心赛道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886200" y="5543550"/>
            <a:ext cx="442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C9A97E"/>
                </a:solidFill>
                <a:latin typeface="PingFang SC"/>
                <a:ea typeface="PingFang SC"/>
              </a:rPr>
              <a:t>以系统原型证明核心体验</a:t>
            </a:r>
            <a:r>
              <a:rPr lang="en-US" sz="1125" spc="75">
                <a:solidFill>
                  <a:srgbClr val="C9A97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 spc="75">
                <a:solidFill>
                  <a:srgbClr val="C9A97E"/>
                </a:solidFill>
                <a:latin typeface="PingFang SC"/>
                <a:ea typeface="PingFang SC"/>
              </a:rPr>
              <a:t>以模块边界说明</a:t>
            </a:r>
            <a:r>
              <a:rPr lang="en-US" sz="1125" spc="75">
                <a:solidFill>
                  <a:srgbClr val="C9A97E"/>
                </a:solidFill>
                <a:latin typeface="PingFang SC"/>
                <a:ea typeface="PingFang SC"/>
              </a:rPr>
              <a:t xml:space="preserve"> API / SDK </a:t>
            </a:r>
            <a:r>
              <a:rPr lang="zh-CN" sz="1125" spc="75">
                <a:solidFill>
                  <a:srgbClr val="C9A97E"/>
                </a:solidFill>
                <a:latin typeface="PingFang SC"/>
                <a:ea typeface="PingFang SC"/>
              </a:rPr>
              <a:t>封装方向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5857875" y="5924550"/>
            <a:ext cx="495300" cy="495300"/>
          </a:xfrm>
          <a:prstGeom prst="roundRect">
            <a:avLst>
              <a:gd name="adj" fmla="val 9615"/>
            </a:avLst>
          </a:prstGeom>
          <a:gradFill>
            <a:gsLst>
              <a:gs pos="0">
                <a:srgbClr val="C2543C"/>
              </a:gs>
              <a:gs pos="100000">
                <a:srgbClr val="8F3F1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991225" y="60388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BEFD8"/>
                </a:solidFill>
                <a:latin typeface="Songti SC"/>
                <a:ea typeface="Songti SC"/>
              </a:rPr>
              <a:t>弦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A97E">
                    <a:alpha val="60000"/>
                  </a:srgbClr>
                </a:solidFill>
                <a:latin typeface="PingFang SC"/>
                <a:ea typeface="PingFang SC"/>
              </a:rPr>
              <a:t>弦养</a:t>
            </a:r>
            <a:r>
              <a:rPr lang="en-US" sz="1050">
                <a:solidFill>
                  <a:srgbClr val="C9A97E">
                    <a:alpha val="60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C9A97E">
                    <a:alpha val="60000"/>
                  </a:srgbClr>
                </a:solidFill>
                <a:latin typeface="PingFang SC"/>
                <a:ea typeface="PingFang SC"/>
              </a:rPr>
              <a:t>以身为琴，以动为弦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239500" y="63246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9A97E">
                    <a:alpha val="60000"/>
                  </a:srgbClr>
                </a:solidFill>
                <a:latin typeface="PingFang SC"/>
                <a:ea typeface="PingFang SC"/>
              </a:rPr>
              <a:t>12 / 12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6" presetClass="emp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50" dur="250" fill="hold"/>
                                        <p:tgtEl>
                                          <p:spTgt spid="129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Scale>
                                      <p:cBhvr>
                                        <p:cTn id="51" dur="250" fill="hold"/>
                                        <p:tgtEl>
                                          <p:spTgt spid="129"/>
                                        </p:tgtEl>
                                      </p:cBhvr>
                                      <p:from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53" dur="250" fill="hold"/>
                                        <p:tgtEl>
                                          <p:spTgt spid="130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Scale>
                                      <p:cBhvr>
                                        <p:cTn id="54" dur="250" fill="hold"/>
                                        <p:tgtEl>
                                          <p:spTgt spid="130"/>
                                        </p:tgtEl>
                                      </p:cBhvr>
                                      <p:from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5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58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2026-10-04T07:43:34Z</dcterms:created>
  <dcterms:modified xsi:type="dcterms:W3CDTF">2026-10-04T07:43:34Z</dcterms:modified>
</cp:coreProperties>
</file>